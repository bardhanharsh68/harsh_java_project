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Roboto" panose="02000000000000000000" pitchFamily="2" charset="0"/>
      <p:regular r:id="rId16"/>
    </p:embeddedFont>
    <p:embeddedFont>
      <p:font typeface="Roboto Slab" pitchFamily="2" charset="0"/>
      <p:regular r:id="rId17"/>
      <p:bold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4576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73684" y="264319"/>
            <a:ext cx="2963689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endParaRPr lang="en-US" sz="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86" y="747195"/>
            <a:ext cx="2727335" cy="363497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68589" y="273323"/>
            <a:ext cx="515094" cy="118914"/>
          </a:xfrm>
          <a:prstGeom prst="roundRect">
            <a:avLst>
              <a:gd name="adj" fmla="val 7600"/>
            </a:avLst>
          </a:prstGeom>
          <a:solidFill>
            <a:srgbClr val="D7DFF4"/>
          </a:solidFill>
          <a:ln/>
        </p:spPr>
      </p:sp>
      <p:sp>
        <p:nvSpPr>
          <p:cNvPr id="5" name="Text 2"/>
          <p:cNvSpPr/>
          <p:nvPr/>
        </p:nvSpPr>
        <p:spPr>
          <a:xfrm>
            <a:off x="4713759" y="295870"/>
            <a:ext cx="881955" cy="73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TITLE</a:t>
            </a:r>
            <a:endParaRPr lang="en-US" sz="450" dirty="0"/>
          </a:p>
        </p:txBody>
      </p:sp>
      <p:sp>
        <p:nvSpPr>
          <p:cNvPr id="6" name="Text 3"/>
          <p:cNvSpPr/>
          <p:nvPr/>
        </p:nvSpPr>
        <p:spPr>
          <a:xfrm>
            <a:off x="3814511" y="761991"/>
            <a:ext cx="4206239" cy="947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Parking Lot Management System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3825814" y="1709579"/>
            <a:ext cx="3516757" cy="136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Using Core Java &amp; Object-Oriented Programming Concepts</a:t>
            </a:r>
            <a:endParaRPr lang="en-US" sz="10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9A0BA89-8812-45CC-C2C6-D550387F81EE}"/>
              </a:ext>
            </a:extLst>
          </p:cNvPr>
          <p:cNvGrpSpPr/>
          <p:nvPr/>
        </p:nvGrpSpPr>
        <p:grpSpPr>
          <a:xfrm>
            <a:off x="3817018" y="2040871"/>
            <a:ext cx="3528060" cy="2169746"/>
            <a:chOff x="3829177" y="2212421"/>
            <a:chExt cx="2996843" cy="1893896"/>
          </a:xfrm>
        </p:grpSpPr>
        <p:pic>
          <p:nvPicPr>
            <p:cNvPr id="8" name="Image 1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29177" y="2212421"/>
              <a:ext cx="2985540" cy="639917"/>
            </a:xfrm>
            <a:prstGeom prst="rect">
              <a:avLst/>
            </a:prstGeom>
          </p:spPr>
        </p:pic>
        <p:sp>
          <p:nvSpPr>
            <p:cNvPr id="9" name="Text 5"/>
            <p:cNvSpPr/>
            <p:nvPr/>
          </p:nvSpPr>
          <p:spPr>
            <a:xfrm>
              <a:off x="3968954" y="2294797"/>
              <a:ext cx="1117093" cy="13960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0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Project Details</a:t>
              </a:r>
              <a:endParaRPr lang="en-US" sz="1000" dirty="0"/>
            </a:p>
          </p:txBody>
        </p:sp>
        <p:sp>
          <p:nvSpPr>
            <p:cNvPr id="10" name="Text 6"/>
            <p:cNvSpPr/>
            <p:nvPr/>
          </p:nvSpPr>
          <p:spPr>
            <a:xfrm>
              <a:off x="3968954" y="2481818"/>
              <a:ext cx="2739004" cy="10940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2000"/>
                </a:lnSpc>
                <a:buNone/>
              </a:pPr>
              <a:r>
                <a:rPr lang="en-US" sz="11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Subject:</a:t>
              </a:r>
              <a:r>
                <a:rPr lang="en-US" sz="11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Object Oriented Programming with Java</a:t>
              </a:r>
              <a:endParaRPr lang="en-US" sz="1100" dirty="0"/>
            </a:p>
          </p:txBody>
        </p:sp>
        <p:sp>
          <p:nvSpPr>
            <p:cNvPr id="16" name="Text 10"/>
            <p:cNvSpPr/>
            <p:nvPr/>
          </p:nvSpPr>
          <p:spPr>
            <a:xfrm>
              <a:off x="3972764" y="2629787"/>
              <a:ext cx="2739004" cy="10940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2000"/>
                </a:lnSpc>
                <a:buNone/>
              </a:pPr>
              <a:r>
                <a:rPr lang="en-US" sz="11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Project ID:</a:t>
              </a:r>
              <a:r>
                <a:rPr lang="en-US" sz="11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RU-100-01-00012</a:t>
              </a:r>
              <a:endParaRPr lang="en-US" sz="1100" dirty="0"/>
            </a:p>
          </p:txBody>
        </p:sp>
        <p:pic>
          <p:nvPicPr>
            <p:cNvPr id="27" name="Image 1" descr="preencoded.png">
              <a:extLst>
                <a:ext uri="{FF2B5EF4-FFF2-40B4-BE49-F238E27FC236}">
                  <a16:creationId xmlns:a16="http://schemas.microsoft.com/office/drawing/2014/main" id="{591F63CF-EC7F-4272-EF34-AF4A39AFF4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40480" y="2983337"/>
              <a:ext cx="2985540" cy="1122980"/>
            </a:xfrm>
            <a:prstGeom prst="rect">
              <a:avLst/>
            </a:prstGeom>
          </p:spPr>
        </p:pic>
        <p:sp>
          <p:nvSpPr>
            <p:cNvPr id="28" name="Text 5">
              <a:extLst>
                <a:ext uri="{FF2B5EF4-FFF2-40B4-BE49-F238E27FC236}">
                  <a16:creationId xmlns:a16="http://schemas.microsoft.com/office/drawing/2014/main" id="{65BEF50F-EFB7-B961-A4A5-2BCC5A9D0582}"/>
                </a:ext>
              </a:extLst>
            </p:cNvPr>
            <p:cNvSpPr/>
            <p:nvPr/>
          </p:nvSpPr>
          <p:spPr>
            <a:xfrm>
              <a:off x="3980257" y="3070122"/>
              <a:ext cx="1117093" cy="13960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0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Student Information</a:t>
              </a:r>
              <a:endParaRPr lang="en-US" sz="1000" dirty="0"/>
            </a:p>
          </p:txBody>
        </p:sp>
        <p:sp>
          <p:nvSpPr>
            <p:cNvPr id="29" name="Text 6">
              <a:extLst>
                <a:ext uri="{FF2B5EF4-FFF2-40B4-BE49-F238E27FC236}">
                  <a16:creationId xmlns:a16="http://schemas.microsoft.com/office/drawing/2014/main" id="{CC2E71F1-85AF-EDBB-21BC-2F69694C9D24}"/>
                </a:ext>
              </a:extLst>
            </p:cNvPr>
            <p:cNvSpPr/>
            <p:nvPr/>
          </p:nvSpPr>
          <p:spPr>
            <a:xfrm>
              <a:off x="3980257" y="3257143"/>
              <a:ext cx="2739004" cy="10940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2000"/>
                </a:lnSpc>
                <a:buNone/>
              </a:pPr>
              <a:r>
                <a:rPr lang="en-US" sz="11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Name:</a:t>
              </a:r>
              <a:r>
                <a:rPr lang="en-US" sz="11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Harsh Vardhan</a:t>
              </a:r>
              <a:endParaRPr lang="en-US" sz="1100" dirty="0"/>
            </a:p>
          </p:txBody>
        </p:sp>
        <p:sp>
          <p:nvSpPr>
            <p:cNvPr id="30" name="Text 10">
              <a:extLst>
                <a:ext uri="{FF2B5EF4-FFF2-40B4-BE49-F238E27FC236}">
                  <a16:creationId xmlns:a16="http://schemas.microsoft.com/office/drawing/2014/main" id="{6BC1E2F8-7100-E582-1A40-CB673F14E39E}"/>
                </a:ext>
              </a:extLst>
            </p:cNvPr>
            <p:cNvSpPr/>
            <p:nvPr/>
          </p:nvSpPr>
          <p:spPr>
            <a:xfrm>
              <a:off x="3984067" y="3405112"/>
              <a:ext cx="2739004" cy="10940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2000"/>
                </a:lnSpc>
                <a:buNone/>
              </a:pPr>
              <a:r>
                <a:rPr lang="en-US" sz="11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ERP ID:</a:t>
              </a:r>
              <a:r>
                <a:rPr lang="en-US" sz="11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RU-25-10556</a:t>
              </a:r>
              <a:endParaRPr lang="en-US" sz="1100" dirty="0"/>
            </a:p>
          </p:txBody>
        </p:sp>
        <p:sp>
          <p:nvSpPr>
            <p:cNvPr id="31" name="Text 6">
              <a:extLst>
                <a:ext uri="{FF2B5EF4-FFF2-40B4-BE49-F238E27FC236}">
                  <a16:creationId xmlns:a16="http://schemas.microsoft.com/office/drawing/2014/main" id="{07CEA8CC-1F66-4612-BCD6-C638FE52754A}"/>
                </a:ext>
              </a:extLst>
            </p:cNvPr>
            <p:cNvSpPr/>
            <p:nvPr/>
          </p:nvSpPr>
          <p:spPr>
            <a:xfrm>
              <a:off x="3980257" y="3544827"/>
              <a:ext cx="2739004" cy="10940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2000"/>
                </a:lnSpc>
                <a:buNone/>
              </a:pPr>
              <a:r>
                <a:rPr lang="en-US" sz="11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College:</a:t>
              </a:r>
              <a:r>
                <a:rPr lang="en-US" sz="11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Rungta International Skills University</a:t>
              </a:r>
              <a:endParaRPr lang="en-US" sz="1100" dirty="0"/>
            </a:p>
          </p:txBody>
        </p:sp>
        <p:sp>
          <p:nvSpPr>
            <p:cNvPr id="32" name="Text 10">
              <a:extLst>
                <a:ext uri="{FF2B5EF4-FFF2-40B4-BE49-F238E27FC236}">
                  <a16:creationId xmlns:a16="http://schemas.microsoft.com/office/drawing/2014/main" id="{4D4BF705-BCC0-9FEA-B11B-28F0320C91D6}"/>
                </a:ext>
              </a:extLst>
            </p:cNvPr>
            <p:cNvSpPr/>
            <p:nvPr/>
          </p:nvSpPr>
          <p:spPr>
            <a:xfrm>
              <a:off x="3984067" y="3692796"/>
              <a:ext cx="2739004" cy="10940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2000"/>
                </a:lnSpc>
                <a:buNone/>
              </a:pPr>
              <a:r>
                <a:rPr lang="en-US" sz="11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Department:</a:t>
              </a:r>
              <a:r>
                <a:rPr lang="en-US" sz="11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Computer Science &amp; Engineering</a:t>
              </a:r>
              <a:endParaRPr lang="en-US" sz="1100" dirty="0"/>
            </a:p>
          </p:txBody>
        </p:sp>
        <p:sp>
          <p:nvSpPr>
            <p:cNvPr id="33" name="Text 10">
              <a:extLst>
                <a:ext uri="{FF2B5EF4-FFF2-40B4-BE49-F238E27FC236}">
                  <a16:creationId xmlns:a16="http://schemas.microsoft.com/office/drawing/2014/main" id="{94AB346F-0D50-160C-9D85-A23E003B86D4}"/>
                </a:ext>
              </a:extLst>
            </p:cNvPr>
            <p:cNvSpPr/>
            <p:nvPr/>
          </p:nvSpPr>
          <p:spPr>
            <a:xfrm>
              <a:off x="3984067" y="3847172"/>
              <a:ext cx="2739004" cy="10940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2000"/>
                </a:lnSpc>
                <a:buNone/>
              </a:pPr>
              <a:r>
                <a:rPr lang="en-US" sz="11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Academics Year:</a:t>
              </a:r>
              <a:r>
                <a:rPr lang="en-US" sz="11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2025-29 (First Year)</a:t>
              </a:r>
              <a:endParaRPr lang="en-US" sz="1100" dirty="0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D67F33FB-0BFF-193E-03DC-9273D31ED598}"/>
              </a:ext>
            </a:extLst>
          </p:cNvPr>
          <p:cNvSpPr/>
          <p:nvPr/>
        </p:nvSpPr>
        <p:spPr>
          <a:xfrm>
            <a:off x="7831394" y="4645742"/>
            <a:ext cx="1312606" cy="4313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44414" y="238051"/>
            <a:ext cx="562124" cy="131862"/>
          </a:xfrm>
          <a:prstGeom prst="roundRect">
            <a:avLst>
              <a:gd name="adj" fmla="val 7459"/>
            </a:avLst>
          </a:prstGeom>
          <a:solidFill>
            <a:srgbClr val="D7DFF4"/>
          </a:solidFill>
          <a:ln/>
        </p:spPr>
      </p:sp>
      <p:sp>
        <p:nvSpPr>
          <p:cNvPr id="3" name="Text 1"/>
          <p:cNvSpPr/>
          <p:nvPr/>
        </p:nvSpPr>
        <p:spPr>
          <a:xfrm>
            <a:off x="1793528" y="262607"/>
            <a:ext cx="921097" cy="82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INTRODUCTION</a:t>
            </a:r>
            <a:endParaRPr lang="en-US" sz="500" dirty="0"/>
          </a:p>
        </p:txBody>
      </p:sp>
      <p:sp>
        <p:nvSpPr>
          <p:cNvPr id="4" name="Shape 2"/>
          <p:cNvSpPr/>
          <p:nvPr/>
        </p:nvSpPr>
        <p:spPr>
          <a:xfrm>
            <a:off x="2347466" y="233288"/>
            <a:ext cx="630882" cy="141387"/>
          </a:xfrm>
          <a:prstGeom prst="roundRect">
            <a:avLst>
              <a:gd name="adj" fmla="val 6956"/>
            </a:avLst>
          </a:prstGeom>
          <a:noFill/>
          <a:ln w="4763">
            <a:solidFill>
              <a:srgbClr val="3257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01342" y="262607"/>
            <a:ext cx="980331" cy="82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0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MOBILITY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1515814" y="393576"/>
            <a:ext cx="6112371" cy="768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Introduction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515814" y="1232967"/>
            <a:ext cx="6112371" cy="12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Addressing the growing demand for smart and efficient urban mobility solutions.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685404" y="1415579"/>
            <a:ext cx="2845668" cy="3494559"/>
          </a:xfrm>
          <a:prstGeom prst="roundRect">
            <a:avLst>
              <a:gd name="adj" fmla="val 432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1932012" y="1462906"/>
            <a:ext cx="2352377" cy="153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Problems in Traditional Systems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767334" y="1669852"/>
            <a:ext cx="2681808" cy="293191"/>
          </a:xfrm>
          <a:prstGeom prst="roundRect">
            <a:avLst>
              <a:gd name="adj" fmla="val 4193"/>
            </a:avLst>
          </a:prstGeom>
          <a:solidFill>
            <a:srgbClr val="E9ECF2"/>
          </a:solidFill>
          <a:ln/>
        </p:spPr>
      </p:sp>
      <p:sp>
        <p:nvSpPr>
          <p:cNvPr id="11" name="Text 9"/>
          <p:cNvSpPr/>
          <p:nvPr/>
        </p:nvSpPr>
        <p:spPr>
          <a:xfrm>
            <a:off x="1849264" y="1751781"/>
            <a:ext cx="2517949" cy="12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parking slot management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767334" y="2010370"/>
            <a:ext cx="2681808" cy="293191"/>
          </a:xfrm>
          <a:prstGeom prst="roundRect">
            <a:avLst>
              <a:gd name="adj" fmla="val 4193"/>
            </a:avLst>
          </a:prstGeom>
          <a:solidFill>
            <a:srgbClr val="E9ECF2"/>
          </a:solidFill>
          <a:ln/>
        </p:spPr>
      </p:sp>
      <p:sp>
        <p:nvSpPr>
          <p:cNvPr id="13" name="Text 11"/>
          <p:cNvSpPr/>
          <p:nvPr/>
        </p:nvSpPr>
        <p:spPr>
          <a:xfrm>
            <a:off x="1849264" y="2092300"/>
            <a:ext cx="2517949" cy="12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Time-consuming vehicle tracking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767334" y="2350889"/>
            <a:ext cx="2681808" cy="293191"/>
          </a:xfrm>
          <a:prstGeom prst="roundRect">
            <a:avLst>
              <a:gd name="adj" fmla="val 4193"/>
            </a:avLst>
          </a:prstGeom>
          <a:solidFill>
            <a:srgbClr val="E9ECF2"/>
          </a:solidFill>
          <a:ln/>
        </p:spPr>
      </p:sp>
      <p:sp>
        <p:nvSpPr>
          <p:cNvPr id="15" name="Text 13"/>
          <p:cNvSpPr/>
          <p:nvPr/>
        </p:nvSpPr>
        <p:spPr>
          <a:xfrm>
            <a:off x="1849264" y="2432819"/>
            <a:ext cx="2517949" cy="12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Difficulty in calculating parking fees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767334" y="2691408"/>
            <a:ext cx="2681808" cy="293191"/>
          </a:xfrm>
          <a:prstGeom prst="roundRect">
            <a:avLst>
              <a:gd name="adj" fmla="val 4193"/>
            </a:avLst>
          </a:prstGeom>
          <a:solidFill>
            <a:srgbClr val="E9ECF2"/>
          </a:solidFill>
          <a:ln/>
        </p:spPr>
      </p:sp>
      <p:sp>
        <p:nvSpPr>
          <p:cNvPr id="17" name="Text 15"/>
          <p:cNvSpPr/>
          <p:nvPr/>
        </p:nvSpPr>
        <p:spPr>
          <a:xfrm>
            <a:off x="1849264" y="2773338"/>
            <a:ext cx="2517949" cy="12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Lack of real-time slot availability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767334" y="3031927"/>
            <a:ext cx="2681808" cy="293191"/>
          </a:xfrm>
          <a:prstGeom prst="roundRect">
            <a:avLst>
              <a:gd name="adj" fmla="val 4193"/>
            </a:avLst>
          </a:prstGeom>
          <a:solidFill>
            <a:srgbClr val="E9ECF2"/>
          </a:solidFill>
          <a:ln/>
        </p:spPr>
      </p:sp>
      <p:sp>
        <p:nvSpPr>
          <p:cNvPr id="19" name="Text 17"/>
          <p:cNvSpPr/>
          <p:nvPr/>
        </p:nvSpPr>
        <p:spPr>
          <a:xfrm>
            <a:off x="1849264" y="3113856"/>
            <a:ext cx="2517949" cy="12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 errors and inefficiency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767334" y="3372445"/>
            <a:ext cx="2681808" cy="293191"/>
          </a:xfrm>
          <a:prstGeom prst="roundRect">
            <a:avLst>
              <a:gd name="adj" fmla="val 4193"/>
            </a:avLst>
          </a:prstGeom>
          <a:solidFill>
            <a:srgbClr val="E9ECF2"/>
          </a:solidFill>
          <a:ln/>
        </p:spPr>
      </p:sp>
      <p:sp>
        <p:nvSpPr>
          <p:cNvPr id="21" name="Text 19"/>
          <p:cNvSpPr/>
          <p:nvPr/>
        </p:nvSpPr>
        <p:spPr>
          <a:xfrm>
            <a:off x="1849264" y="3454375"/>
            <a:ext cx="2517949" cy="12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Poor customer experience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17690" y="1415579"/>
            <a:ext cx="2845668" cy="3494559"/>
          </a:xfrm>
          <a:prstGeom prst="roundRect">
            <a:avLst>
              <a:gd name="adj" fmla="val 432"/>
            </a:avLst>
          </a:prstGeom>
          <a:solidFill>
            <a:srgbClr val="F2FBF7"/>
          </a:solidFill>
          <a:ln/>
        </p:spPr>
      </p:sp>
      <p:sp>
        <p:nvSpPr>
          <p:cNvPr id="23" name="Text 21"/>
          <p:cNvSpPr/>
          <p:nvPr/>
        </p:nvSpPr>
        <p:spPr>
          <a:xfrm>
            <a:off x="5076527" y="1462906"/>
            <a:ext cx="1927994" cy="153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Why Automation Matters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99620" y="1669852"/>
            <a:ext cx="327794" cy="491728"/>
          </a:xfrm>
          <a:prstGeom prst="roundRect">
            <a:avLst>
              <a:gd name="adj" fmla="val 360048"/>
            </a:avLst>
          </a:prstGeom>
          <a:solidFill>
            <a:srgbClr val="E9ECF2"/>
          </a:solidFill>
          <a:ln/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2014" y="1854175"/>
            <a:ext cx="122932" cy="12293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074741" y="1751781"/>
            <a:ext cx="2306687" cy="12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Efficient slot allocation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4699620" y="2208907"/>
            <a:ext cx="327794" cy="491728"/>
          </a:xfrm>
          <a:prstGeom prst="roundRect">
            <a:avLst>
              <a:gd name="adj" fmla="val 360048"/>
            </a:avLst>
          </a:prstGeom>
          <a:solidFill>
            <a:srgbClr val="E9ECF2"/>
          </a:solidFill>
          <a:ln/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2014" y="2393231"/>
            <a:ext cx="122932" cy="12293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074741" y="2290837"/>
            <a:ext cx="2306687" cy="12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fee calculation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4699620" y="2747962"/>
            <a:ext cx="327794" cy="491728"/>
          </a:xfrm>
          <a:prstGeom prst="roundRect">
            <a:avLst>
              <a:gd name="adj" fmla="val 360048"/>
            </a:avLst>
          </a:prstGeom>
          <a:solidFill>
            <a:srgbClr val="E9ECF2"/>
          </a:solidFill>
          <a:ln/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2014" y="2932286"/>
            <a:ext cx="122932" cy="12293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074741" y="2829892"/>
            <a:ext cx="2306687" cy="12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availability tracking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4699620" y="3287018"/>
            <a:ext cx="327794" cy="491728"/>
          </a:xfrm>
          <a:prstGeom prst="roundRect">
            <a:avLst>
              <a:gd name="adj" fmla="val 360048"/>
            </a:avLst>
          </a:prstGeom>
          <a:solidFill>
            <a:srgbClr val="E9ECF2"/>
          </a:solidFill>
          <a:ln/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2014" y="3471342"/>
            <a:ext cx="122932" cy="12293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074741" y="3368948"/>
            <a:ext cx="2306687" cy="12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Reduced manual workload</a:t>
            </a:r>
            <a:endParaRPr lang="en-US" sz="800" dirty="0"/>
          </a:p>
        </p:txBody>
      </p:sp>
      <p:sp>
        <p:nvSpPr>
          <p:cNvPr id="36" name="Shape 30"/>
          <p:cNvSpPr/>
          <p:nvPr/>
        </p:nvSpPr>
        <p:spPr>
          <a:xfrm>
            <a:off x="4699620" y="3826073"/>
            <a:ext cx="327794" cy="491728"/>
          </a:xfrm>
          <a:prstGeom prst="roundRect">
            <a:avLst>
              <a:gd name="adj" fmla="val 360048"/>
            </a:avLst>
          </a:prstGeom>
          <a:solidFill>
            <a:srgbClr val="E9ECF2"/>
          </a:solidFill>
          <a:ln/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2014" y="4010397"/>
            <a:ext cx="122932" cy="122932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5074741" y="3908003"/>
            <a:ext cx="2306687" cy="12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Improved accuracy</a:t>
            </a:r>
            <a:endParaRPr lang="en-US" sz="800" dirty="0"/>
          </a:p>
        </p:txBody>
      </p:sp>
      <p:sp>
        <p:nvSpPr>
          <p:cNvPr id="39" name="Shape 32"/>
          <p:cNvSpPr/>
          <p:nvPr/>
        </p:nvSpPr>
        <p:spPr>
          <a:xfrm>
            <a:off x="4699620" y="4365129"/>
            <a:ext cx="327794" cy="491728"/>
          </a:xfrm>
          <a:prstGeom prst="roundRect">
            <a:avLst>
              <a:gd name="adj" fmla="val 360048"/>
            </a:avLst>
          </a:prstGeom>
          <a:solidFill>
            <a:srgbClr val="E9ECF2"/>
          </a:solidFill>
          <a:ln/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2014" y="4549453"/>
            <a:ext cx="122932" cy="122932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5074741" y="4447059"/>
            <a:ext cx="2306687" cy="12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Better customer satisfaction</a:t>
            </a:r>
            <a:endParaRPr lang="en-US" sz="8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70DCB37-3910-8A98-6556-BE962CDCAEEC}"/>
              </a:ext>
            </a:extLst>
          </p:cNvPr>
          <p:cNvSpPr/>
          <p:nvPr/>
        </p:nvSpPr>
        <p:spPr>
          <a:xfrm>
            <a:off x="7765026" y="4645742"/>
            <a:ext cx="1312606" cy="4313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67991" y="298177"/>
            <a:ext cx="486742" cy="136252"/>
          </a:xfrm>
          <a:prstGeom prst="roundRect">
            <a:avLst>
              <a:gd name="adj" fmla="val 7413"/>
            </a:avLst>
          </a:prstGeom>
          <a:solidFill>
            <a:srgbClr val="D7DFF4"/>
          </a:solidFill>
          <a:ln/>
        </p:spPr>
      </p:sp>
      <p:sp>
        <p:nvSpPr>
          <p:cNvPr id="3" name="Text 1"/>
          <p:cNvSpPr/>
          <p:nvPr/>
        </p:nvSpPr>
        <p:spPr>
          <a:xfrm>
            <a:off x="1718444" y="323404"/>
            <a:ext cx="843037" cy="85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OBJECTIVES</a:t>
            </a:r>
            <a:endParaRPr lang="en-US" sz="500" dirty="0"/>
          </a:p>
        </p:txBody>
      </p:sp>
      <p:sp>
        <p:nvSpPr>
          <p:cNvPr id="4" name="Shape 2"/>
          <p:cNvSpPr/>
          <p:nvPr/>
        </p:nvSpPr>
        <p:spPr>
          <a:xfrm>
            <a:off x="2196778" y="293415"/>
            <a:ext cx="321171" cy="145777"/>
          </a:xfrm>
          <a:prstGeom prst="roundRect">
            <a:avLst>
              <a:gd name="adj" fmla="val 6929"/>
            </a:avLst>
          </a:prstGeom>
          <a:noFill/>
          <a:ln w="4763">
            <a:solidFill>
              <a:srgbClr val="3257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51993" y="323404"/>
            <a:ext cx="667941" cy="85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50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</a:t>
            </a:r>
            <a:endParaRPr lang="en-US" sz="500" dirty="0"/>
          </a:p>
        </p:txBody>
      </p:sp>
      <p:sp>
        <p:nvSpPr>
          <p:cNvPr id="6" name="Shape 4"/>
          <p:cNvSpPr/>
          <p:nvPr/>
        </p:nvSpPr>
        <p:spPr>
          <a:xfrm>
            <a:off x="2559993" y="293415"/>
            <a:ext cx="625525" cy="145777"/>
          </a:xfrm>
          <a:prstGeom prst="roundRect">
            <a:avLst>
              <a:gd name="adj" fmla="val 6929"/>
            </a:avLst>
          </a:prstGeom>
          <a:noFill/>
          <a:ln w="4763">
            <a:solidFill>
              <a:srgbClr val="3257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15208" y="323404"/>
            <a:ext cx="972294" cy="85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50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PARKING</a:t>
            </a:r>
            <a:endParaRPr lang="en-US" sz="500" dirty="0"/>
          </a:p>
        </p:txBody>
      </p:sp>
      <p:sp>
        <p:nvSpPr>
          <p:cNvPr id="8" name="Text 6"/>
          <p:cNvSpPr/>
          <p:nvPr/>
        </p:nvSpPr>
        <p:spPr>
          <a:xfrm>
            <a:off x="2239045" y="459135"/>
            <a:ext cx="4665911" cy="52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Objectives &amp; Scope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439391" y="1060177"/>
            <a:ext cx="6265218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8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goals and application areas for the smart parking system.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208758" y="1300386"/>
            <a:ext cx="1719783" cy="157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Objectives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67991" y="1514401"/>
            <a:ext cx="2801317" cy="302419"/>
          </a:xfrm>
          <a:prstGeom prst="roundRect">
            <a:avLst>
              <a:gd name="adj" fmla="val 4175"/>
            </a:avLst>
          </a:prstGeom>
          <a:solidFill>
            <a:srgbClr val="E9ECF2"/>
          </a:solidFill>
          <a:ln/>
        </p:spPr>
      </p:sp>
      <p:sp>
        <p:nvSpPr>
          <p:cNvPr id="12" name="Text 10"/>
          <p:cNvSpPr/>
          <p:nvPr/>
        </p:nvSpPr>
        <p:spPr>
          <a:xfrm>
            <a:off x="1752154" y="1598563"/>
            <a:ext cx="2632993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 parking slots efficiently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667991" y="1866751"/>
            <a:ext cx="2801317" cy="302419"/>
          </a:xfrm>
          <a:prstGeom prst="roundRect">
            <a:avLst>
              <a:gd name="adj" fmla="val 4175"/>
            </a:avLst>
          </a:prstGeom>
          <a:solidFill>
            <a:srgbClr val="E9ECF2"/>
          </a:solidFill>
          <a:ln/>
        </p:spPr>
      </p:sp>
      <p:sp>
        <p:nvSpPr>
          <p:cNvPr id="14" name="Text 12"/>
          <p:cNvSpPr/>
          <p:nvPr/>
        </p:nvSpPr>
        <p:spPr>
          <a:xfrm>
            <a:off x="1752154" y="1950913"/>
            <a:ext cx="2632993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Assign parking spaces automatically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667991" y="2219102"/>
            <a:ext cx="2801317" cy="302419"/>
          </a:xfrm>
          <a:prstGeom prst="roundRect">
            <a:avLst>
              <a:gd name="adj" fmla="val 4175"/>
            </a:avLst>
          </a:prstGeom>
          <a:solidFill>
            <a:srgbClr val="E9ECF2"/>
          </a:solidFill>
          <a:ln/>
        </p:spPr>
      </p:sp>
      <p:sp>
        <p:nvSpPr>
          <p:cNvPr id="16" name="Text 14"/>
          <p:cNvSpPr/>
          <p:nvPr/>
        </p:nvSpPr>
        <p:spPr>
          <a:xfrm>
            <a:off x="1752154" y="2303264"/>
            <a:ext cx="2632993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 vehicle entry and exit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667991" y="2571452"/>
            <a:ext cx="2801317" cy="302419"/>
          </a:xfrm>
          <a:prstGeom prst="roundRect">
            <a:avLst>
              <a:gd name="adj" fmla="val 4175"/>
            </a:avLst>
          </a:prstGeom>
          <a:solidFill>
            <a:srgbClr val="E9ECF2"/>
          </a:solidFill>
          <a:ln/>
        </p:spPr>
      </p:sp>
      <p:sp>
        <p:nvSpPr>
          <p:cNvPr id="18" name="Text 16"/>
          <p:cNvSpPr/>
          <p:nvPr/>
        </p:nvSpPr>
        <p:spPr>
          <a:xfrm>
            <a:off x="1752154" y="2655615"/>
            <a:ext cx="2632993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Calculate parking fees accurately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667991" y="2923803"/>
            <a:ext cx="2801317" cy="302419"/>
          </a:xfrm>
          <a:prstGeom prst="roundRect">
            <a:avLst>
              <a:gd name="adj" fmla="val 4175"/>
            </a:avLst>
          </a:prstGeom>
          <a:solidFill>
            <a:srgbClr val="E9ECF2"/>
          </a:solidFill>
          <a:ln/>
        </p:spPr>
      </p:sp>
      <p:sp>
        <p:nvSpPr>
          <p:cNvPr id="20" name="Text 18"/>
          <p:cNvSpPr/>
          <p:nvPr/>
        </p:nvSpPr>
        <p:spPr>
          <a:xfrm>
            <a:off x="1752154" y="3007965"/>
            <a:ext cx="2632993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 manual work and human errors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667991" y="3276154"/>
            <a:ext cx="2801317" cy="302419"/>
          </a:xfrm>
          <a:prstGeom prst="roundRect">
            <a:avLst>
              <a:gd name="adj" fmla="val 4175"/>
            </a:avLst>
          </a:prstGeom>
          <a:solidFill>
            <a:srgbClr val="E9ECF2"/>
          </a:solidFill>
          <a:ln/>
        </p:spPr>
      </p:sp>
      <p:sp>
        <p:nvSpPr>
          <p:cNvPr id="22" name="Text 20"/>
          <p:cNvSpPr/>
          <p:nvPr/>
        </p:nvSpPr>
        <p:spPr>
          <a:xfrm>
            <a:off x="1752154" y="3360316"/>
            <a:ext cx="2632993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Apply OOP concepts in Java implementation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20221" y="1300386"/>
            <a:ext cx="1719783" cy="157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Scope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79454" y="1514401"/>
            <a:ext cx="336649" cy="504974"/>
          </a:xfrm>
          <a:prstGeom prst="roundRect">
            <a:avLst>
              <a:gd name="adj" fmla="val 360052"/>
            </a:avLst>
          </a:prstGeom>
          <a:solidFill>
            <a:srgbClr val="E9ECF2"/>
          </a:solidFill>
          <a:ln/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84675" y="1703784"/>
            <a:ext cx="126206" cy="12620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066035" y="1598563"/>
            <a:ext cx="2414736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Suitable for malls and shopping centers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4679454" y="2069306"/>
            <a:ext cx="336649" cy="504974"/>
          </a:xfrm>
          <a:prstGeom prst="roundRect">
            <a:avLst>
              <a:gd name="adj" fmla="val 360052"/>
            </a:avLst>
          </a:prstGeom>
          <a:solidFill>
            <a:srgbClr val="E9ECF2"/>
          </a:solidFill>
          <a:ln/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84675" y="2258690"/>
            <a:ext cx="126206" cy="126206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066035" y="2153469"/>
            <a:ext cx="2414736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Applicable to office buildings and corporate parks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4679454" y="2624212"/>
            <a:ext cx="336649" cy="504974"/>
          </a:xfrm>
          <a:prstGeom prst="roundRect">
            <a:avLst>
              <a:gd name="adj" fmla="val 360052"/>
            </a:avLst>
          </a:prstGeom>
          <a:solidFill>
            <a:srgbClr val="E9ECF2"/>
          </a:solidFill>
          <a:ln/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84675" y="2813596"/>
            <a:ext cx="126206" cy="126206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066035" y="2708374"/>
            <a:ext cx="2414736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Ideal for colleges and educational institutions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4679454" y="3179118"/>
            <a:ext cx="336649" cy="504974"/>
          </a:xfrm>
          <a:prstGeom prst="roundRect">
            <a:avLst>
              <a:gd name="adj" fmla="val 360052"/>
            </a:avLst>
          </a:prstGeom>
          <a:solidFill>
            <a:srgbClr val="E9ECF2"/>
          </a:solidFill>
          <a:ln/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84675" y="3368501"/>
            <a:ext cx="126206" cy="126206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066035" y="3263280"/>
            <a:ext cx="2414736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Effective for small to medium parking areas</a:t>
            </a:r>
            <a:endParaRPr lang="en-US" sz="800" dirty="0"/>
          </a:p>
        </p:txBody>
      </p:sp>
      <p:sp>
        <p:nvSpPr>
          <p:cNvPr id="36" name="Shape 30"/>
          <p:cNvSpPr/>
          <p:nvPr/>
        </p:nvSpPr>
        <p:spPr>
          <a:xfrm>
            <a:off x="4679454" y="3734023"/>
            <a:ext cx="336649" cy="504974"/>
          </a:xfrm>
          <a:prstGeom prst="roundRect">
            <a:avLst>
              <a:gd name="adj" fmla="val 360052"/>
            </a:avLst>
          </a:prstGeom>
          <a:solidFill>
            <a:srgbClr val="E9ECF2"/>
          </a:solidFill>
          <a:ln/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84675" y="3923407"/>
            <a:ext cx="126206" cy="126206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5066035" y="3818186"/>
            <a:ext cx="2414736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 be expanded for larger applications</a:t>
            </a:r>
            <a:endParaRPr lang="en-US" sz="800" dirty="0"/>
          </a:p>
        </p:txBody>
      </p:sp>
      <p:sp>
        <p:nvSpPr>
          <p:cNvPr id="39" name="Shape 32"/>
          <p:cNvSpPr/>
          <p:nvPr/>
        </p:nvSpPr>
        <p:spPr>
          <a:xfrm>
            <a:off x="4679454" y="4288929"/>
            <a:ext cx="336649" cy="504974"/>
          </a:xfrm>
          <a:prstGeom prst="roundRect">
            <a:avLst>
              <a:gd name="adj" fmla="val 360052"/>
            </a:avLst>
          </a:prstGeom>
          <a:solidFill>
            <a:srgbClr val="E9ECF2"/>
          </a:solidFill>
          <a:ln/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84675" y="4478313"/>
            <a:ext cx="126206" cy="126206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5066035" y="4373091"/>
            <a:ext cx="2414736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Scalable architecture for future enhancements</a:t>
            </a:r>
            <a:endParaRPr lang="en-US" sz="8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9FA3534-E887-A02D-6286-ADF5A9274C60}"/>
              </a:ext>
            </a:extLst>
          </p:cNvPr>
          <p:cNvSpPr/>
          <p:nvPr/>
        </p:nvSpPr>
        <p:spPr>
          <a:xfrm>
            <a:off x="7765026" y="4645742"/>
            <a:ext cx="1312606" cy="4313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26531" y="199653"/>
            <a:ext cx="728737" cy="110430"/>
          </a:xfrm>
          <a:prstGeom prst="roundRect">
            <a:avLst>
              <a:gd name="adj" fmla="val 7703"/>
            </a:avLst>
          </a:prstGeom>
          <a:solidFill>
            <a:srgbClr val="D7DFF4"/>
          </a:solidFill>
          <a:ln/>
        </p:spPr>
      </p:sp>
      <p:sp>
        <p:nvSpPr>
          <p:cNvPr id="3" name="Text 1"/>
          <p:cNvSpPr/>
          <p:nvPr/>
        </p:nvSpPr>
        <p:spPr>
          <a:xfrm>
            <a:off x="2169021" y="220861"/>
            <a:ext cx="1100956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 REQUIREMENTS</a:t>
            </a:r>
            <a:endParaRPr lang="en-US" sz="400" dirty="0"/>
          </a:p>
        </p:txBody>
      </p:sp>
      <p:sp>
        <p:nvSpPr>
          <p:cNvPr id="4" name="Shape 2"/>
          <p:cNvSpPr/>
          <p:nvPr/>
        </p:nvSpPr>
        <p:spPr>
          <a:xfrm>
            <a:off x="2890689" y="194890"/>
            <a:ext cx="504602" cy="119955"/>
          </a:xfrm>
          <a:prstGeom prst="roundRect">
            <a:avLst>
              <a:gd name="adj" fmla="val 7091"/>
            </a:avLst>
          </a:prstGeom>
          <a:noFill/>
          <a:ln w="4763">
            <a:solidFill>
              <a:srgbClr val="3257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37942" y="220861"/>
            <a:ext cx="867296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TECHNOLOGIES</a:t>
            </a:r>
            <a:endParaRPr lang="en-US" sz="400" dirty="0"/>
          </a:p>
        </p:txBody>
      </p:sp>
      <p:sp>
        <p:nvSpPr>
          <p:cNvPr id="6" name="Shape 4"/>
          <p:cNvSpPr/>
          <p:nvPr/>
        </p:nvSpPr>
        <p:spPr>
          <a:xfrm>
            <a:off x="3430712" y="194890"/>
            <a:ext cx="528117" cy="119955"/>
          </a:xfrm>
          <a:prstGeom prst="roundRect">
            <a:avLst>
              <a:gd name="adj" fmla="val 7091"/>
            </a:avLst>
          </a:prstGeom>
          <a:noFill/>
          <a:ln w="4763">
            <a:solidFill>
              <a:srgbClr val="3257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7964" y="220861"/>
            <a:ext cx="890811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PARKING</a:t>
            </a:r>
            <a:endParaRPr lang="en-US" sz="400" dirty="0"/>
          </a:p>
        </p:txBody>
      </p:sp>
      <p:sp>
        <p:nvSpPr>
          <p:cNvPr id="8" name="Text 6"/>
          <p:cNvSpPr/>
          <p:nvPr/>
        </p:nvSpPr>
        <p:spPr>
          <a:xfrm>
            <a:off x="323088" y="328985"/>
            <a:ext cx="8583167" cy="1993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5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System Requirements</a:t>
            </a:r>
            <a:endParaRPr lang="en-US" sz="3500" dirty="0"/>
          </a:p>
          <a:p>
            <a:pPr marL="0" indent="0" algn="ctr">
              <a:lnSpc>
                <a:spcPct val="104000"/>
              </a:lnSpc>
              <a:buNone/>
            </a:pPr>
            <a:r>
              <a:rPr lang="en-US" sz="35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&amp; Technologies</a:t>
            </a:r>
            <a:endParaRPr lang="en-US" sz="3500" dirty="0"/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8F0846F-2676-5B68-D0B3-06CF2A63A7B1}"/>
              </a:ext>
            </a:extLst>
          </p:cNvPr>
          <p:cNvGrpSpPr/>
          <p:nvPr/>
        </p:nvGrpSpPr>
        <p:grpSpPr>
          <a:xfrm>
            <a:off x="1529344" y="1479293"/>
            <a:ext cx="6170653" cy="3574118"/>
            <a:chOff x="1897931" y="2375669"/>
            <a:chExt cx="5348139" cy="3097708"/>
          </a:xfrm>
        </p:grpSpPr>
        <p:sp>
          <p:nvSpPr>
            <p:cNvPr id="9" name="Text 7"/>
            <p:cNvSpPr/>
            <p:nvPr/>
          </p:nvSpPr>
          <p:spPr>
            <a:xfrm>
              <a:off x="1897931" y="2375669"/>
              <a:ext cx="5348139" cy="1063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65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Essential hardware, software, and core technologies.</a:t>
              </a:r>
              <a:endParaRPr lang="en-US" sz="650" dirty="0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EABD2846-5A27-B542-329D-B7B0334CA25F}"/>
                </a:ext>
              </a:extLst>
            </p:cNvPr>
            <p:cNvGrpSpPr/>
            <p:nvPr/>
          </p:nvGrpSpPr>
          <p:grpSpPr>
            <a:xfrm>
              <a:off x="2034480" y="2521818"/>
              <a:ext cx="5043488" cy="2951559"/>
              <a:chOff x="2034480" y="2521818"/>
              <a:chExt cx="5043488" cy="2951559"/>
            </a:xfrm>
          </p:grpSpPr>
          <p:sp>
            <p:nvSpPr>
              <p:cNvPr id="10" name="Shape 8"/>
              <p:cNvSpPr/>
              <p:nvPr/>
            </p:nvSpPr>
            <p:spPr>
              <a:xfrm>
                <a:off x="2075483" y="2521818"/>
                <a:ext cx="1600200" cy="2951559"/>
              </a:xfrm>
              <a:prstGeom prst="roundRect">
                <a:avLst>
                  <a:gd name="adj" fmla="val 664"/>
                </a:avLst>
              </a:prstGeom>
              <a:solidFill>
                <a:srgbClr val="F5F8FF"/>
              </a:solidFill>
              <a:ln/>
            </p:spPr>
          </p:sp>
          <p:sp>
            <p:nvSpPr>
              <p:cNvPr id="11" name="Text 9"/>
              <p:cNvSpPr/>
              <p:nvPr/>
            </p:nvSpPr>
            <p:spPr>
              <a:xfrm>
                <a:off x="2034480" y="2557239"/>
                <a:ext cx="1682204" cy="13290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ct val="104000"/>
                  </a:lnSpc>
                  <a:buNone/>
                </a:pPr>
                <a:r>
                  <a:rPr lang="en-US" sz="800" dirty="0">
                    <a:solidFill>
                      <a:srgbClr val="000000"/>
                    </a:solidFill>
                    <a:latin typeface="Roboto Slab" pitchFamily="34" charset="0"/>
                    <a:ea typeface="Roboto Slab" pitchFamily="34" charset="-122"/>
                    <a:cs typeface="Roboto Slab" pitchFamily="34" charset="-120"/>
                  </a:rPr>
                  <a:t>Hardware Requirements</a:t>
                </a:r>
                <a:endParaRPr lang="en-US" sz="800" dirty="0"/>
              </a:p>
            </p:txBody>
          </p:sp>
          <p:pic>
            <p:nvPicPr>
              <p:cNvPr id="12" name="Image 0" descr="preencoded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46325" y="2729954"/>
                <a:ext cx="467767" cy="467767"/>
              </a:xfrm>
              <a:prstGeom prst="rect">
                <a:avLst/>
              </a:prstGeom>
            </p:spPr>
          </p:pic>
          <p:sp>
            <p:nvSpPr>
              <p:cNvPr id="13" name="Text 10"/>
              <p:cNvSpPr/>
              <p:nvPr/>
            </p:nvSpPr>
            <p:spPr>
              <a:xfrm>
                <a:off x="2146325" y="3241997"/>
                <a:ext cx="885974" cy="1107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ct val="104000"/>
                  </a:lnSpc>
                  <a:buNone/>
                </a:pPr>
                <a:r>
                  <a:rPr lang="en-US" sz="650" dirty="0">
                    <a:solidFill>
                      <a:srgbClr val="15213F"/>
                    </a:solidFill>
                    <a:latin typeface="Roboto Slab" pitchFamily="34" charset="0"/>
                    <a:ea typeface="Roboto Slab" pitchFamily="34" charset="-122"/>
                    <a:cs typeface="Roboto Slab" pitchFamily="34" charset="-120"/>
                  </a:rPr>
                  <a:t>4GB RAM minimum</a:t>
                </a:r>
                <a:endParaRPr lang="en-US" sz="650" dirty="0"/>
              </a:p>
            </p:txBody>
          </p:sp>
          <p:pic>
            <p:nvPicPr>
              <p:cNvPr id="14" name="Image 1" descr="preencoded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46325" y="3423568"/>
                <a:ext cx="467767" cy="467767"/>
              </a:xfrm>
              <a:prstGeom prst="rect">
                <a:avLst/>
              </a:prstGeom>
            </p:spPr>
          </p:pic>
          <p:sp>
            <p:nvSpPr>
              <p:cNvPr id="15" name="Text 11"/>
              <p:cNvSpPr/>
              <p:nvPr/>
            </p:nvSpPr>
            <p:spPr>
              <a:xfrm>
                <a:off x="2146325" y="3935611"/>
                <a:ext cx="885974" cy="1107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ct val="104000"/>
                  </a:lnSpc>
                  <a:buNone/>
                </a:pPr>
                <a:r>
                  <a:rPr lang="en-US" sz="650" dirty="0">
                    <a:solidFill>
                      <a:srgbClr val="15213F"/>
                    </a:solidFill>
                    <a:latin typeface="Roboto Slab" pitchFamily="34" charset="0"/>
                    <a:ea typeface="Roboto Slab" pitchFamily="34" charset="-122"/>
                    <a:cs typeface="Roboto Slab" pitchFamily="34" charset="-120"/>
                  </a:rPr>
                  <a:t>Intel i5 or equivalent</a:t>
                </a:r>
                <a:endParaRPr lang="en-US" sz="650" dirty="0"/>
              </a:p>
            </p:txBody>
          </p:sp>
          <p:pic>
            <p:nvPicPr>
              <p:cNvPr id="16" name="Image 2" descr="preencoded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46325" y="4117181"/>
                <a:ext cx="467767" cy="467767"/>
              </a:xfrm>
              <a:prstGeom prst="rect">
                <a:avLst/>
              </a:prstGeom>
            </p:spPr>
          </p:pic>
          <p:sp>
            <p:nvSpPr>
              <p:cNvPr id="17" name="Text 12"/>
              <p:cNvSpPr/>
              <p:nvPr/>
            </p:nvSpPr>
            <p:spPr>
              <a:xfrm>
                <a:off x="2146325" y="4629224"/>
                <a:ext cx="885974" cy="1107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ct val="104000"/>
                  </a:lnSpc>
                  <a:buNone/>
                </a:pPr>
                <a:r>
                  <a:rPr lang="en-US" sz="650" dirty="0">
                    <a:solidFill>
                      <a:srgbClr val="15213F"/>
                    </a:solidFill>
                    <a:latin typeface="Roboto Slab" pitchFamily="34" charset="0"/>
                    <a:ea typeface="Roboto Slab" pitchFamily="34" charset="-122"/>
                    <a:cs typeface="Roboto Slab" pitchFamily="34" charset="-120"/>
                  </a:rPr>
                  <a:t>500MB free storage</a:t>
                </a:r>
                <a:endParaRPr lang="en-US" sz="650" dirty="0"/>
              </a:p>
            </p:txBody>
          </p:sp>
          <p:pic>
            <p:nvPicPr>
              <p:cNvPr id="18" name="Image 3" descr="preencoded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46325" y="4810795"/>
                <a:ext cx="467767" cy="467767"/>
              </a:xfrm>
              <a:prstGeom prst="rect">
                <a:avLst/>
              </a:prstGeom>
            </p:spPr>
          </p:pic>
          <p:sp>
            <p:nvSpPr>
              <p:cNvPr id="19" name="Text 13"/>
              <p:cNvSpPr/>
              <p:nvPr/>
            </p:nvSpPr>
            <p:spPr>
              <a:xfrm>
                <a:off x="2146325" y="5322838"/>
                <a:ext cx="1110630" cy="1107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ct val="104000"/>
                  </a:lnSpc>
                  <a:buNone/>
                </a:pPr>
                <a:r>
                  <a:rPr lang="en-US" sz="650" dirty="0">
                    <a:solidFill>
                      <a:srgbClr val="15213F"/>
                    </a:solidFill>
                    <a:latin typeface="Roboto Slab" pitchFamily="34" charset="0"/>
                    <a:ea typeface="Roboto Slab" pitchFamily="34" charset="-122"/>
                    <a:cs typeface="Roboto Slab" pitchFamily="34" charset="-120"/>
                  </a:rPr>
                  <a:t>1024×768 display or higher</a:t>
                </a:r>
                <a:endParaRPr lang="en-US" sz="650" dirty="0"/>
              </a:p>
            </p:txBody>
          </p:sp>
          <p:sp>
            <p:nvSpPr>
              <p:cNvPr id="20" name="Shape 14"/>
              <p:cNvSpPr/>
              <p:nvPr/>
            </p:nvSpPr>
            <p:spPr>
              <a:xfrm>
                <a:off x="3751287" y="2521818"/>
                <a:ext cx="1650876" cy="2951559"/>
              </a:xfrm>
              <a:prstGeom prst="roundRect">
                <a:avLst>
                  <a:gd name="adj" fmla="val 644"/>
                </a:avLst>
              </a:prstGeom>
              <a:solidFill>
                <a:srgbClr val="F2FBF7"/>
              </a:solidFill>
              <a:ln/>
            </p:spPr>
          </p:sp>
          <p:sp>
            <p:nvSpPr>
              <p:cNvPr id="21" name="Text 15"/>
              <p:cNvSpPr/>
              <p:nvPr/>
            </p:nvSpPr>
            <p:spPr>
              <a:xfrm>
                <a:off x="3760961" y="2557239"/>
                <a:ext cx="1631454" cy="13290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ct val="104000"/>
                  </a:lnSpc>
                  <a:buNone/>
                </a:pPr>
                <a:r>
                  <a:rPr lang="en-US" sz="800" dirty="0">
                    <a:solidFill>
                      <a:srgbClr val="000000"/>
                    </a:solidFill>
                    <a:latin typeface="Roboto Slab" pitchFamily="34" charset="0"/>
                    <a:ea typeface="Roboto Slab" pitchFamily="34" charset="-122"/>
                    <a:cs typeface="Roboto Slab" pitchFamily="34" charset="-120"/>
                  </a:rPr>
                  <a:t>Software Requirements</a:t>
                </a:r>
                <a:endParaRPr lang="en-US" sz="800" dirty="0"/>
              </a:p>
            </p:txBody>
          </p:sp>
          <p:sp>
            <p:nvSpPr>
              <p:cNvPr id="22" name="Shape 16"/>
              <p:cNvSpPr/>
              <p:nvPr/>
            </p:nvSpPr>
            <p:spPr>
              <a:xfrm>
                <a:off x="3822129" y="2729954"/>
                <a:ext cx="283518" cy="457944"/>
              </a:xfrm>
              <a:prstGeom prst="roundRect">
                <a:avLst>
                  <a:gd name="adj" fmla="val 360022"/>
                </a:avLst>
              </a:prstGeom>
              <a:solidFill>
                <a:srgbClr val="E9ECF2"/>
              </a:solidFill>
              <a:ln/>
            </p:spPr>
          </p:sp>
          <p:sp>
            <p:nvSpPr>
              <p:cNvPr id="23" name="Text 17"/>
              <p:cNvSpPr/>
              <p:nvPr/>
            </p:nvSpPr>
            <p:spPr>
              <a:xfrm>
                <a:off x="3910757" y="2892475"/>
                <a:ext cx="106263" cy="13290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800" dirty="0">
                    <a:solidFill>
                      <a:srgbClr val="15213F"/>
                    </a:solidFill>
                    <a:latin typeface="Roboto Slab" pitchFamily="34" charset="0"/>
                    <a:ea typeface="Roboto Slab" pitchFamily="34" charset="-122"/>
                    <a:cs typeface="Roboto Slab" pitchFamily="34" charset="-120"/>
                  </a:rPr>
                  <a:t>1</a:t>
                </a:r>
                <a:endParaRPr lang="en-US" sz="800" dirty="0"/>
              </a:p>
            </p:txBody>
          </p:sp>
          <p:sp>
            <p:nvSpPr>
              <p:cNvPr id="24" name="Text 18"/>
              <p:cNvSpPr/>
              <p:nvPr/>
            </p:nvSpPr>
            <p:spPr>
              <a:xfrm>
                <a:off x="4141068" y="2800796"/>
                <a:ext cx="885974" cy="1107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ct val="104000"/>
                  </a:lnSpc>
                  <a:buNone/>
                </a:pPr>
                <a:r>
                  <a:rPr lang="en-US" sz="650" dirty="0">
                    <a:solidFill>
                      <a:srgbClr val="15213F"/>
                    </a:solidFill>
                    <a:latin typeface="Roboto Slab" pitchFamily="34" charset="0"/>
                    <a:ea typeface="Roboto Slab" pitchFamily="34" charset="-122"/>
                    <a:cs typeface="Roboto Slab" pitchFamily="34" charset="-120"/>
                  </a:rPr>
                  <a:t>Java JDK 8 or higher</a:t>
                </a:r>
                <a:endParaRPr lang="en-US" sz="650" dirty="0"/>
              </a:p>
            </p:txBody>
          </p:sp>
          <p:sp>
            <p:nvSpPr>
              <p:cNvPr id="25" name="Text 19"/>
              <p:cNvSpPr/>
              <p:nvPr/>
            </p:nvSpPr>
            <p:spPr>
              <a:xfrm>
                <a:off x="4141068" y="2946946"/>
                <a:ext cx="1190253" cy="1701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l">
                  <a:lnSpc>
                    <a:spcPct val="100000"/>
                  </a:lnSpc>
                  <a:buNone/>
                </a:pPr>
                <a:r>
                  <a:rPr lang="en-US" sz="550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Required for compiling and running the application.</a:t>
                </a:r>
                <a:endParaRPr lang="en-US" sz="550" dirty="0"/>
              </a:p>
            </p:txBody>
          </p:sp>
          <p:sp>
            <p:nvSpPr>
              <p:cNvPr id="26" name="Shape 20"/>
              <p:cNvSpPr/>
              <p:nvPr/>
            </p:nvSpPr>
            <p:spPr>
              <a:xfrm>
                <a:off x="3822129" y="3223320"/>
                <a:ext cx="283518" cy="457944"/>
              </a:xfrm>
              <a:prstGeom prst="roundRect">
                <a:avLst>
                  <a:gd name="adj" fmla="val 360022"/>
                </a:avLst>
              </a:prstGeom>
              <a:solidFill>
                <a:srgbClr val="E9ECF2"/>
              </a:solidFill>
              <a:ln/>
            </p:spPr>
          </p:sp>
          <p:sp>
            <p:nvSpPr>
              <p:cNvPr id="27" name="Text 21"/>
              <p:cNvSpPr/>
              <p:nvPr/>
            </p:nvSpPr>
            <p:spPr>
              <a:xfrm>
                <a:off x="3910757" y="3385840"/>
                <a:ext cx="106263" cy="13290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800" dirty="0">
                    <a:solidFill>
                      <a:srgbClr val="15213F"/>
                    </a:solidFill>
                    <a:latin typeface="Roboto Slab" pitchFamily="34" charset="0"/>
                    <a:ea typeface="Roboto Slab" pitchFamily="34" charset="-122"/>
                    <a:cs typeface="Roboto Slab" pitchFamily="34" charset="-120"/>
                  </a:rPr>
                  <a:t>2</a:t>
                </a:r>
                <a:endParaRPr lang="en-US" sz="800" dirty="0"/>
              </a:p>
            </p:txBody>
          </p:sp>
          <p:sp>
            <p:nvSpPr>
              <p:cNvPr id="28" name="Text 22"/>
              <p:cNvSpPr/>
              <p:nvPr/>
            </p:nvSpPr>
            <p:spPr>
              <a:xfrm>
                <a:off x="4141068" y="3294162"/>
                <a:ext cx="885974" cy="1107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ct val="104000"/>
                  </a:lnSpc>
                  <a:buNone/>
                </a:pPr>
                <a:r>
                  <a:rPr lang="en-US" sz="650" dirty="0">
                    <a:solidFill>
                      <a:srgbClr val="15213F"/>
                    </a:solidFill>
                    <a:latin typeface="Roboto Slab" pitchFamily="34" charset="0"/>
                    <a:ea typeface="Roboto Slab" pitchFamily="34" charset="-122"/>
                    <a:cs typeface="Roboto Slab" pitchFamily="34" charset="-120"/>
                  </a:rPr>
                  <a:t>Code Editor / IDE</a:t>
                </a:r>
                <a:endParaRPr lang="en-US" sz="650" dirty="0"/>
              </a:p>
            </p:txBody>
          </p:sp>
          <p:sp>
            <p:nvSpPr>
              <p:cNvPr id="29" name="Text 23"/>
              <p:cNvSpPr/>
              <p:nvPr/>
            </p:nvSpPr>
            <p:spPr>
              <a:xfrm>
                <a:off x="4141068" y="3440311"/>
                <a:ext cx="1190253" cy="1701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l">
                  <a:lnSpc>
                    <a:spcPct val="100000"/>
                  </a:lnSpc>
                  <a:buNone/>
                </a:pPr>
                <a:r>
                  <a:rPr lang="en-US" sz="550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VS Code, Eclipse, or IntelliJ IDEA for development.</a:t>
                </a:r>
                <a:endParaRPr lang="en-US" sz="550" dirty="0"/>
              </a:p>
            </p:txBody>
          </p:sp>
          <p:sp>
            <p:nvSpPr>
              <p:cNvPr id="30" name="Shape 24"/>
              <p:cNvSpPr/>
              <p:nvPr/>
            </p:nvSpPr>
            <p:spPr>
              <a:xfrm>
                <a:off x="3822129" y="3716685"/>
                <a:ext cx="283518" cy="457944"/>
              </a:xfrm>
              <a:prstGeom prst="roundRect">
                <a:avLst>
                  <a:gd name="adj" fmla="val 360022"/>
                </a:avLst>
              </a:prstGeom>
              <a:solidFill>
                <a:srgbClr val="E9ECF2"/>
              </a:solidFill>
              <a:ln/>
            </p:spPr>
          </p:sp>
          <p:sp>
            <p:nvSpPr>
              <p:cNvPr id="31" name="Text 25"/>
              <p:cNvSpPr/>
              <p:nvPr/>
            </p:nvSpPr>
            <p:spPr>
              <a:xfrm>
                <a:off x="3910757" y="3879205"/>
                <a:ext cx="106263" cy="13290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800" dirty="0">
                    <a:solidFill>
                      <a:srgbClr val="15213F"/>
                    </a:solidFill>
                    <a:latin typeface="Roboto Slab" pitchFamily="34" charset="0"/>
                    <a:ea typeface="Roboto Slab" pitchFamily="34" charset="-122"/>
                    <a:cs typeface="Roboto Slab" pitchFamily="34" charset="-120"/>
                  </a:rPr>
                  <a:t>3</a:t>
                </a:r>
                <a:endParaRPr lang="en-US" sz="800" dirty="0"/>
              </a:p>
            </p:txBody>
          </p:sp>
          <p:sp>
            <p:nvSpPr>
              <p:cNvPr id="32" name="Text 26"/>
              <p:cNvSpPr/>
              <p:nvPr/>
            </p:nvSpPr>
            <p:spPr>
              <a:xfrm>
                <a:off x="4141068" y="3787527"/>
                <a:ext cx="885974" cy="1107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ct val="104000"/>
                  </a:lnSpc>
                  <a:buNone/>
                </a:pPr>
                <a:r>
                  <a:rPr lang="en-US" sz="650" dirty="0">
                    <a:solidFill>
                      <a:srgbClr val="15213F"/>
                    </a:solidFill>
                    <a:latin typeface="Roboto Slab" pitchFamily="34" charset="0"/>
                    <a:ea typeface="Roboto Slab" pitchFamily="34" charset="-122"/>
                    <a:cs typeface="Roboto Slab" pitchFamily="34" charset="-120"/>
                  </a:rPr>
                  <a:t>Operating System</a:t>
                </a:r>
                <a:endParaRPr lang="en-US" sz="650" dirty="0"/>
              </a:p>
            </p:txBody>
          </p:sp>
          <p:sp>
            <p:nvSpPr>
              <p:cNvPr id="33" name="Text 27"/>
              <p:cNvSpPr/>
              <p:nvPr/>
            </p:nvSpPr>
            <p:spPr>
              <a:xfrm>
                <a:off x="4141068" y="3933676"/>
                <a:ext cx="1190253" cy="1701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l">
                  <a:lnSpc>
                    <a:spcPct val="100000"/>
                  </a:lnSpc>
                  <a:buNone/>
                </a:pPr>
                <a:r>
                  <a:rPr lang="en-US" sz="550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Compatible with Windows, Linux, or macOS environments.</a:t>
                </a:r>
                <a:endParaRPr lang="en-US" sz="550" dirty="0"/>
              </a:p>
            </p:txBody>
          </p:sp>
          <p:sp>
            <p:nvSpPr>
              <p:cNvPr id="34" name="Shape 28"/>
              <p:cNvSpPr/>
              <p:nvPr/>
            </p:nvSpPr>
            <p:spPr>
              <a:xfrm>
                <a:off x="3822129" y="4210050"/>
                <a:ext cx="283518" cy="457944"/>
              </a:xfrm>
              <a:prstGeom prst="roundRect">
                <a:avLst>
                  <a:gd name="adj" fmla="val 360022"/>
                </a:avLst>
              </a:prstGeom>
              <a:solidFill>
                <a:srgbClr val="E9ECF2"/>
              </a:solidFill>
              <a:ln/>
            </p:spPr>
          </p:sp>
          <p:sp>
            <p:nvSpPr>
              <p:cNvPr id="35" name="Text 29"/>
              <p:cNvSpPr/>
              <p:nvPr/>
            </p:nvSpPr>
            <p:spPr>
              <a:xfrm>
                <a:off x="3910757" y="4372570"/>
                <a:ext cx="106263" cy="13290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800" dirty="0">
                    <a:solidFill>
                      <a:srgbClr val="15213F"/>
                    </a:solidFill>
                    <a:latin typeface="Roboto Slab" pitchFamily="34" charset="0"/>
                    <a:ea typeface="Roboto Slab" pitchFamily="34" charset="-122"/>
                    <a:cs typeface="Roboto Slab" pitchFamily="34" charset="-120"/>
                  </a:rPr>
                  <a:t>4</a:t>
                </a:r>
                <a:endParaRPr lang="en-US" sz="800" dirty="0"/>
              </a:p>
            </p:txBody>
          </p:sp>
          <p:sp>
            <p:nvSpPr>
              <p:cNvPr id="36" name="Text 30"/>
              <p:cNvSpPr/>
              <p:nvPr/>
            </p:nvSpPr>
            <p:spPr>
              <a:xfrm>
                <a:off x="4141068" y="4280892"/>
                <a:ext cx="885974" cy="1107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ct val="104000"/>
                  </a:lnSpc>
                  <a:buNone/>
                </a:pPr>
                <a:r>
                  <a:rPr lang="en-US" sz="650" dirty="0">
                    <a:solidFill>
                      <a:srgbClr val="15213F"/>
                    </a:solidFill>
                    <a:latin typeface="Roboto Slab" pitchFamily="34" charset="0"/>
                    <a:ea typeface="Roboto Slab" pitchFamily="34" charset="-122"/>
                    <a:cs typeface="Roboto Slab" pitchFamily="34" charset="-120"/>
                  </a:rPr>
                  <a:t>Git Version Control</a:t>
                </a:r>
                <a:endParaRPr lang="en-US" sz="650" dirty="0"/>
              </a:p>
            </p:txBody>
          </p:sp>
          <p:sp>
            <p:nvSpPr>
              <p:cNvPr id="37" name="Text 31"/>
              <p:cNvSpPr/>
              <p:nvPr/>
            </p:nvSpPr>
            <p:spPr>
              <a:xfrm>
                <a:off x="4141068" y="4427041"/>
                <a:ext cx="1190253" cy="1701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l">
                  <a:lnSpc>
                    <a:spcPct val="100000"/>
                  </a:lnSpc>
                  <a:buNone/>
                </a:pPr>
                <a:r>
                  <a:rPr lang="en-US" sz="550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Used for source control and project collaboration.</a:t>
                </a:r>
                <a:endParaRPr lang="en-US" sz="550" dirty="0"/>
              </a:p>
            </p:txBody>
          </p:sp>
          <p:sp>
            <p:nvSpPr>
              <p:cNvPr id="38" name="Shape 32"/>
              <p:cNvSpPr/>
              <p:nvPr/>
            </p:nvSpPr>
            <p:spPr>
              <a:xfrm>
                <a:off x="5477768" y="2521818"/>
                <a:ext cx="1600200" cy="2951559"/>
              </a:xfrm>
              <a:prstGeom prst="roundRect">
                <a:avLst>
                  <a:gd name="adj" fmla="val 664"/>
                </a:avLst>
              </a:prstGeom>
              <a:solidFill>
                <a:srgbClr val="FFF7ED"/>
              </a:solidFill>
              <a:ln/>
            </p:spPr>
          </p:sp>
          <p:sp>
            <p:nvSpPr>
              <p:cNvPr id="39" name="Text 33"/>
              <p:cNvSpPr/>
              <p:nvPr/>
            </p:nvSpPr>
            <p:spPr>
              <a:xfrm>
                <a:off x="5517654" y="2557239"/>
                <a:ext cx="1520428" cy="13290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ct val="104000"/>
                  </a:lnSpc>
                  <a:buNone/>
                </a:pPr>
                <a:r>
                  <a:rPr lang="en-US" sz="800" dirty="0">
                    <a:solidFill>
                      <a:srgbClr val="000000"/>
                    </a:solidFill>
                    <a:latin typeface="Roboto Slab" pitchFamily="34" charset="0"/>
                    <a:ea typeface="Roboto Slab" pitchFamily="34" charset="-122"/>
                    <a:cs typeface="Roboto Slab" pitchFamily="34" charset="-120"/>
                  </a:rPr>
                  <a:t>Technologies Used</a:t>
                </a:r>
                <a:endParaRPr lang="en-US" sz="800" dirty="0"/>
              </a:p>
            </p:txBody>
          </p:sp>
          <p:sp>
            <p:nvSpPr>
              <p:cNvPr id="40" name="Shape 34"/>
              <p:cNvSpPr/>
              <p:nvPr/>
            </p:nvSpPr>
            <p:spPr>
              <a:xfrm>
                <a:off x="5548610" y="2729954"/>
                <a:ext cx="1458516" cy="476994"/>
              </a:xfrm>
              <a:prstGeom prst="roundRect">
                <a:avLst>
                  <a:gd name="adj" fmla="val 2229"/>
                </a:avLst>
              </a:prstGeom>
              <a:solidFill>
                <a:srgbClr val="FFF7ED"/>
              </a:solidFill>
              <a:ln w="9525">
                <a:solidFill>
                  <a:srgbClr val="CFD2D8"/>
                </a:solidFill>
                <a:prstDash val="solid"/>
              </a:ln>
            </p:spPr>
          </p:sp>
          <p:sp>
            <p:nvSpPr>
              <p:cNvPr id="41" name="Text 35"/>
              <p:cNvSpPr/>
              <p:nvPr/>
            </p:nvSpPr>
            <p:spPr>
              <a:xfrm>
                <a:off x="5628977" y="2810321"/>
                <a:ext cx="885974" cy="1107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ct val="104000"/>
                  </a:lnSpc>
                  <a:buNone/>
                </a:pPr>
                <a:r>
                  <a:rPr lang="en-US" sz="650" dirty="0">
                    <a:solidFill>
                      <a:srgbClr val="15213F"/>
                    </a:solidFill>
                    <a:latin typeface="Roboto Slab" pitchFamily="34" charset="0"/>
                    <a:ea typeface="Roboto Slab" pitchFamily="34" charset="-122"/>
                    <a:cs typeface="Roboto Slab" pitchFamily="34" charset="-120"/>
                  </a:rPr>
                  <a:t>Core Java</a:t>
                </a:r>
                <a:endParaRPr lang="en-US" sz="650" dirty="0"/>
              </a:p>
            </p:txBody>
          </p:sp>
          <p:sp>
            <p:nvSpPr>
              <p:cNvPr id="42" name="Text 36"/>
              <p:cNvSpPr/>
              <p:nvPr/>
            </p:nvSpPr>
            <p:spPr>
              <a:xfrm>
                <a:off x="5628977" y="2956471"/>
                <a:ext cx="1297781" cy="1701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l">
                  <a:lnSpc>
                    <a:spcPct val="100000"/>
                  </a:lnSpc>
                  <a:buNone/>
                </a:pPr>
                <a:r>
                  <a:rPr lang="en-US" sz="550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Object-oriented foundation for the full system.</a:t>
                </a:r>
                <a:endParaRPr lang="en-US" sz="550" dirty="0"/>
              </a:p>
            </p:txBody>
          </p:sp>
          <p:sp>
            <p:nvSpPr>
              <p:cNvPr id="43" name="Shape 37"/>
              <p:cNvSpPr/>
              <p:nvPr/>
            </p:nvSpPr>
            <p:spPr>
              <a:xfrm>
                <a:off x="5548610" y="3242370"/>
                <a:ext cx="1458516" cy="476994"/>
              </a:xfrm>
              <a:prstGeom prst="roundRect">
                <a:avLst>
                  <a:gd name="adj" fmla="val 2229"/>
                </a:avLst>
              </a:prstGeom>
              <a:solidFill>
                <a:srgbClr val="FFF7ED"/>
              </a:solidFill>
              <a:ln w="9525">
                <a:solidFill>
                  <a:srgbClr val="CFD2D8"/>
                </a:solidFill>
                <a:prstDash val="solid"/>
              </a:ln>
            </p:spPr>
          </p:sp>
          <p:sp>
            <p:nvSpPr>
              <p:cNvPr id="44" name="Text 38"/>
              <p:cNvSpPr/>
              <p:nvPr/>
            </p:nvSpPr>
            <p:spPr>
              <a:xfrm>
                <a:off x="5628977" y="3322737"/>
                <a:ext cx="885974" cy="1107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ct val="104000"/>
                  </a:lnSpc>
                  <a:buNone/>
                </a:pPr>
                <a:r>
                  <a:rPr lang="en-US" sz="650" dirty="0">
                    <a:solidFill>
                      <a:srgbClr val="15213F"/>
                    </a:solidFill>
                    <a:latin typeface="Roboto Slab" pitchFamily="34" charset="0"/>
                    <a:ea typeface="Roboto Slab" pitchFamily="34" charset="-122"/>
                    <a:cs typeface="Roboto Slab" pitchFamily="34" charset="-120"/>
                  </a:rPr>
                  <a:t>OOP Concepts</a:t>
                </a:r>
                <a:endParaRPr lang="en-US" sz="650" dirty="0"/>
              </a:p>
            </p:txBody>
          </p:sp>
          <p:sp>
            <p:nvSpPr>
              <p:cNvPr id="45" name="Text 39"/>
              <p:cNvSpPr/>
              <p:nvPr/>
            </p:nvSpPr>
            <p:spPr>
              <a:xfrm>
                <a:off x="5628977" y="3468886"/>
                <a:ext cx="1297781" cy="1701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l">
                  <a:lnSpc>
                    <a:spcPct val="100000"/>
                  </a:lnSpc>
                  <a:buNone/>
                </a:pPr>
                <a:r>
                  <a:rPr lang="en-US" sz="550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Encapsulation, inheritance, and polymorphism.</a:t>
                </a:r>
                <a:endParaRPr lang="en-US" sz="550" dirty="0"/>
              </a:p>
            </p:txBody>
          </p:sp>
          <p:sp>
            <p:nvSpPr>
              <p:cNvPr id="46" name="Shape 40"/>
              <p:cNvSpPr/>
              <p:nvPr/>
            </p:nvSpPr>
            <p:spPr>
              <a:xfrm>
                <a:off x="5548610" y="3754785"/>
                <a:ext cx="1458516" cy="476994"/>
              </a:xfrm>
              <a:prstGeom prst="roundRect">
                <a:avLst>
                  <a:gd name="adj" fmla="val 2229"/>
                </a:avLst>
              </a:prstGeom>
              <a:solidFill>
                <a:srgbClr val="FFF7ED"/>
              </a:solidFill>
              <a:ln w="9525">
                <a:solidFill>
                  <a:srgbClr val="CFD2D8"/>
                </a:solidFill>
                <a:prstDash val="solid"/>
              </a:ln>
            </p:spPr>
          </p:sp>
          <p:sp>
            <p:nvSpPr>
              <p:cNvPr id="47" name="Text 41"/>
              <p:cNvSpPr/>
              <p:nvPr/>
            </p:nvSpPr>
            <p:spPr>
              <a:xfrm>
                <a:off x="5628977" y="3835152"/>
                <a:ext cx="885974" cy="1107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ct val="104000"/>
                  </a:lnSpc>
                  <a:buNone/>
                </a:pPr>
                <a:r>
                  <a:rPr lang="en-US" sz="650" dirty="0">
                    <a:solidFill>
                      <a:srgbClr val="15213F"/>
                    </a:solidFill>
                    <a:latin typeface="Roboto Slab" pitchFamily="34" charset="0"/>
                    <a:ea typeface="Roboto Slab" pitchFamily="34" charset="-122"/>
                    <a:cs typeface="Roboto Slab" pitchFamily="34" charset="-120"/>
                  </a:rPr>
                  <a:t>Collections</a:t>
                </a:r>
                <a:endParaRPr lang="en-US" sz="650" dirty="0"/>
              </a:p>
            </p:txBody>
          </p:sp>
          <p:sp>
            <p:nvSpPr>
              <p:cNvPr id="48" name="Text 42"/>
              <p:cNvSpPr/>
              <p:nvPr/>
            </p:nvSpPr>
            <p:spPr>
              <a:xfrm>
                <a:off x="5628977" y="3981301"/>
                <a:ext cx="1297781" cy="1701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l">
                  <a:lnSpc>
                    <a:spcPct val="100000"/>
                  </a:lnSpc>
                  <a:buNone/>
                </a:pPr>
                <a:r>
                  <a:rPr lang="en-US" sz="550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ArrayList and the Collections Framework for data handling.</a:t>
                </a:r>
                <a:endParaRPr lang="en-US" sz="550" dirty="0"/>
              </a:p>
            </p:txBody>
          </p:sp>
          <p:sp>
            <p:nvSpPr>
              <p:cNvPr id="49" name="Shape 43"/>
              <p:cNvSpPr/>
              <p:nvPr/>
            </p:nvSpPr>
            <p:spPr>
              <a:xfrm>
                <a:off x="5548610" y="4267200"/>
                <a:ext cx="1458516" cy="476994"/>
              </a:xfrm>
              <a:prstGeom prst="roundRect">
                <a:avLst>
                  <a:gd name="adj" fmla="val 2229"/>
                </a:avLst>
              </a:prstGeom>
              <a:solidFill>
                <a:srgbClr val="FFF7ED"/>
              </a:solidFill>
              <a:ln w="9525">
                <a:solidFill>
                  <a:srgbClr val="CFD2D8"/>
                </a:solidFill>
                <a:prstDash val="solid"/>
              </a:ln>
            </p:spPr>
          </p:sp>
          <p:sp>
            <p:nvSpPr>
              <p:cNvPr id="50" name="Text 44"/>
              <p:cNvSpPr/>
              <p:nvPr/>
            </p:nvSpPr>
            <p:spPr>
              <a:xfrm>
                <a:off x="5628977" y="4347567"/>
                <a:ext cx="885974" cy="1107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ct val="104000"/>
                  </a:lnSpc>
                  <a:buNone/>
                </a:pPr>
                <a:r>
                  <a:rPr lang="en-US" sz="650" dirty="0">
                    <a:solidFill>
                      <a:srgbClr val="15213F"/>
                    </a:solidFill>
                    <a:latin typeface="Roboto Slab" pitchFamily="34" charset="0"/>
                    <a:ea typeface="Roboto Slab" pitchFamily="34" charset="-122"/>
                    <a:cs typeface="Roboto Slab" pitchFamily="34" charset="-120"/>
                  </a:rPr>
                  <a:t>File I/O</a:t>
                </a:r>
                <a:endParaRPr lang="en-US" sz="650" dirty="0"/>
              </a:p>
            </p:txBody>
          </p:sp>
          <p:sp>
            <p:nvSpPr>
              <p:cNvPr id="51" name="Text 45"/>
              <p:cNvSpPr/>
              <p:nvPr/>
            </p:nvSpPr>
            <p:spPr>
              <a:xfrm>
                <a:off x="5628977" y="4493716"/>
                <a:ext cx="1297781" cy="1701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l">
                  <a:lnSpc>
                    <a:spcPct val="100000"/>
                  </a:lnSpc>
                  <a:buNone/>
                </a:pPr>
                <a:r>
                  <a:rPr lang="en-US" sz="550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Persistent storage and retrieval of parking data.</a:t>
                </a:r>
                <a:endParaRPr lang="en-US" sz="550" dirty="0"/>
              </a:p>
            </p:txBody>
          </p:sp>
          <p:sp>
            <p:nvSpPr>
              <p:cNvPr id="52" name="Shape 46"/>
              <p:cNvSpPr/>
              <p:nvPr/>
            </p:nvSpPr>
            <p:spPr>
              <a:xfrm>
                <a:off x="5548610" y="4779615"/>
                <a:ext cx="1458516" cy="476994"/>
              </a:xfrm>
              <a:prstGeom prst="roundRect">
                <a:avLst>
                  <a:gd name="adj" fmla="val 2229"/>
                </a:avLst>
              </a:prstGeom>
              <a:solidFill>
                <a:srgbClr val="FFF7ED"/>
              </a:solidFill>
              <a:ln w="9525">
                <a:solidFill>
                  <a:srgbClr val="CFD2D8"/>
                </a:solidFill>
                <a:prstDash val="solid"/>
              </a:ln>
            </p:spPr>
          </p:sp>
          <p:sp>
            <p:nvSpPr>
              <p:cNvPr id="53" name="Text 47"/>
              <p:cNvSpPr/>
              <p:nvPr/>
            </p:nvSpPr>
            <p:spPr>
              <a:xfrm>
                <a:off x="5628977" y="4859982"/>
                <a:ext cx="885974" cy="1107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ct val="104000"/>
                  </a:lnSpc>
                  <a:buNone/>
                </a:pPr>
                <a:r>
                  <a:rPr lang="en-US" sz="650" dirty="0">
                    <a:solidFill>
                      <a:srgbClr val="15213F"/>
                    </a:solidFill>
                    <a:latin typeface="Roboto Slab" pitchFamily="34" charset="0"/>
                    <a:ea typeface="Roboto Slab" pitchFamily="34" charset="-122"/>
                    <a:cs typeface="Roboto Slab" pitchFamily="34" charset="-120"/>
                  </a:rPr>
                  <a:t>Exception Handling</a:t>
                </a:r>
                <a:endParaRPr lang="en-US" sz="650" dirty="0"/>
              </a:p>
            </p:txBody>
          </p:sp>
          <p:sp>
            <p:nvSpPr>
              <p:cNvPr id="54" name="Text 48"/>
              <p:cNvSpPr/>
              <p:nvPr/>
            </p:nvSpPr>
            <p:spPr>
              <a:xfrm>
                <a:off x="5628977" y="5006132"/>
                <a:ext cx="1297781" cy="1701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l">
                  <a:lnSpc>
                    <a:spcPct val="100000"/>
                  </a:lnSpc>
                  <a:buNone/>
                </a:pPr>
                <a:r>
                  <a:rPr lang="en-US" sz="550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Improves stability and error management.</a:t>
                </a:r>
                <a:endParaRPr lang="en-US" sz="550" dirty="0"/>
              </a:p>
            </p:txBody>
          </p:sp>
        </p:grp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DE2DAAAD-35F4-4CEB-A3A0-B5BCA7470673}"/>
              </a:ext>
            </a:extLst>
          </p:cNvPr>
          <p:cNvSpPr/>
          <p:nvPr/>
        </p:nvSpPr>
        <p:spPr>
          <a:xfrm>
            <a:off x="7765026" y="4645742"/>
            <a:ext cx="1312606" cy="4313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4132" y="352202"/>
            <a:ext cx="689818" cy="223317"/>
          </a:xfrm>
          <a:prstGeom prst="roundRect">
            <a:avLst>
              <a:gd name="adj" fmla="val 6666"/>
            </a:avLst>
          </a:prstGeom>
          <a:solidFill>
            <a:srgbClr val="D7DFF4"/>
          </a:solidFill>
          <a:ln/>
        </p:spPr>
      </p:sp>
      <p:sp>
        <p:nvSpPr>
          <p:cNvPr id="3" name="Text 1"/>
          <p:cNvSpPr/>
          <p:nvPr/>
        </p:nvSpPr>
        <p:spPr>
          <a:xfrm>
            <a:off x="508546" y="389409"/>
            <a:ext cx="998190" cy="148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WORKFLOW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1185937" y="347439"/>
            <a:ext cx="875035" cy="232842"/>
          </a:xfrm>
          <a:prstGeom prst="roundRect">
            <a:avLst>
              <a:gd name="adj" fmla="val 6393"/>
            </a:avLst>
          </a:prstGeom>
          <a:noFill/>
          <a:ln w="4763">
            <a:solidFill>
              <a:srgbClr val="3257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5113" y="389409"/>
            <a:ext cx="1173882" cy="148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 FLOW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122959" y="347439"/>
            <a:ext cx="917823" cy="232842"/>
          </a:xfrm>
          <a:prstGeom prst="roundRect">
            <a:avLst>
              <a:gd name="adj" fmla="val 6393"/>
            </a:avLst>
          </a:prstGeom>
          <a:noFill/>
          <a:ln w="4763">
            <a:solidFill>
              <a:srgbClr val="3257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02135" y="389409"/>
            <a:ext cx="1216670" cy="148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PARKING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896145" y="623664"/>
            <a:ext cx="535163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System Workflow &amp; Process Flow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05532" y="1173956"/>
            <a:ext cx="8732937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b="1" i="1" u="sng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Simple, sequential steps from start to finish.</a:t>
            </a:r>
            <a:endParaRPr lang="en-US" sz="9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663" y="1482030"/>
            <a:ext cx="8010674" cy="30059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039198" y="3758263"/>
            <a:ext cx="1208243" cy="23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Store Info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516481" y="3641887"/>
            <a:ext cx="1208243" cy="465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Process Tasks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4002041" y="3758263"/>
            <a:ext cx="1208243" cy="23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User Chooses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2487600" y="3758263"/>
            <a:ext cx="1208242" cy="23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Display Menu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940057" y="3758263"/>
            <a:ext cx="1208242" cy="23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Start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205532" y="4610026"/>
            <a:ext cx="8732937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workflow moves step by step through a continuous cycle, returning users to the main menu whenever they choose to continue.</a:t>
            </a:r>
            <a:endParaRPr lang="en-US" sz="9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1DFCFD-49D3-0340-7760-65FDF7D33D02}"/>
              </a:ext>
            </a:extLst>
          </p:cNvPr>
          <p:cNvSpPr/>
          <p:nvPr/>
        </p:nvSpPr>
        <p:spPr>
          <a:xfrm>
            <a:off x="8008374" y="4796060"/>
            <a:ext cx="1069258" cy="2810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5875" y="332631"/>
            <a:ext cx="700534" cy="159023"/>
          </a:xfrm>
          <a:prstGeom prst="roundRect">
            <a:avLst>
              <a:gd name="adj" fmla="val 7188"/>
            </a:avLst>
          </a:prstGeom>
          <a:solidFill>
            <a:srgbClr val="D7DFF4"/>
          </a:solidFill>
          <a:ln/>
        </p:spPr>
      </p:sp>
      <p:sp>
        <p:nvSpPr>
          <p:cNvPr id="3" name="Text 1"/>
          <p:cNvSpPr/>
          <p:nvPr/>
        </p:nvSpPr>
        <p:spPr>
          <a:xfrm>
            <a:off x="1343025" y="361206"/>
            <a:ext cx="1043434" cy="101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 DIAGRAM</a:t>
            </a:r>
            <a:endParaRPr lang="en-US" sz="600" dirty="0"/>
          </a:p>
        </p:txBody>
      </p:sp>
      <p:sp>
        <p:nvSpPr>
          <p:cNvPr id="4" name="Shape 2"/>
          <p:cNvSpPr/>
          <p:nvPr/>
        </p:nvSpPr>
        <p:spPr>
          <a:xfrm>
            <a:off x="2034034" y="327868"/>
            <a:ext cx="683121" cy="168548"/>
          </a:xfrm>
          <a:prstGeom prst="roundRect">
            <a:avLst>
              <a:gd name="adj" fmla="val 6781"/>
            </a:avLst>
          </a:prstGeom>
          <a:noFill/>
          <a:ln w="4763">
            <a:solidFill>
              <a:srgbClr val="3257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95946" y="361206"/>
            <a:ext cx="1016496" cy="101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60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OOP CONCEPTS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2764780" y="327868"/>
            <a:ext cx="728588" cy="168548"/>
          </a:xfrm>
          <a:prstGeom prst="roundRect">
            <a:avLst>
              <a:gd name="adj" fmla="val 6781"/>
            </a:avLst>
          </a:prstGeom>
          <a:noFill/>
          <a:ln w="4763">
            <a:solidFill>
              <a:srgbClr val="3257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26693" y="361206"/>
            <a:ext cx="1061963" cy="101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60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MINIMAL DESIGN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2622277" y="522015"/>
            <a:ext cx="3899446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Class Diagram &amp; OOP Concepts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1057275" y="915665"/>
            <a:ext cx="7029450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1000"/>
              </a:lnSpc>
              <a:buNone/>
            </a:pPr>
            <a:r>
              <a:rPr lang="en-US" sz="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Minimalist class structure and core OOP principles.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217340" y="1115020"/>
            <a:ext cx="3307035" cy="3700611"/>
          </a:xfrm>
          <a:prstGeom prst="roundRect">
            <a:avLst>
              <a:gd name="adj" fmla="val 432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1852240" y="1179016"/>
            <a:ext cx="203723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Class Structure (UML-style)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12590" y="1391841"/>
            <a:ext cx="3573735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Vehicle Class: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312590" y="1591196"/>
            <a:ext cx="3116535" cy="954881"/>
          </a:xfrm>
          <a:prstGeom prst="roundRect">
            <a:avLst>
              <a:gd name="adj" fmla="val 1496"/>
            </a:avLst>
          </a:prstGeom>
          <a:solidFill>
            <a:srgbClr val="E5E5E5"/>
          </a:solidFill>
          <a:ln/>
        </p:spPr>
      </p:sp>
      <p:sp>
        <p:nvSpPr>
          <p:cNvPr id="14" name="Shape 12"/>
          <p:cNvSpPr/>
          <p:nvPr/>
        </p:nvSpPr>
        <p:spPr>
          <a:xfrm>
            <a:off x="1307827" y="1591196"/>
            <a:ext cx="3126060" cy="954881"/>
          </a:xfrm>
          <a:prstGeom prst="roundRect">
            <a:avLst>
              <a:gd name="adj" fmla="val 1496"/>
            </a:avLst>
          </a:prstGeom>
          <a:solidFill>
            <a:srgbClr val="E5E5E5"/>
          </a:solidFill>
          <a:ln/>
        </p:spPr>
      </p:sp>
      <p:sp>
        <p:nvSpPr>
          <p:cNvPr id="15" name="Text 13"/>
          <p:cNvSpPr/>
          <p:nvPr/>
        </p:nvSpPr>
        <p:spPr>
          <a:xfrm>
            <a:off x="1426890" y="1686446"/>
            <a:ext cx="2887935" cy="764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B31D28"/>
                </a:solidFill>
                <a:highlight>
                  <a:srgbClr val="E5E5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vehicleId: String</a:t>
            </a:r>
            <a:endParaRPr lang="en-US" sz="750" dirty="0"/>
          </a:p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B31D28"/>
                </a:solidFill>
                <a:highlight>
                  <a:srgbClr val="E5E5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vehicleName: String</a:t>
            </a:r>
            <a:endParaRPr lang="en-US" sz="750" dirty="0"/>
          </a:p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B31D28"/>
                </a:solidFill>
                <a:highlight>
                  <a:srgbClr val="E5E5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entryTime: LocalDateTime</a:t>
            </a:r>
            <a:endParaRPr lang="en-US" sz="750" dirty="0"/>
          </a:p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B31D28"/>
                </a:solidFill>
                <a:highlight>
                  <a:srgbClr val="E5E5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exitTime: LocalDateTime</a:t>
            </a:r>
            <a:endParaRPr lang="en-US" sz="750" dirty="0"/>
          </a:p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B31D28"/>
                </a:solidFill>
                <a:highlight>
                  <a:srgbClr val="E5E5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 getVehicleDetails()</a:t>
            </a:r>
            <a:endParaRPr lang="en-US" sz="750" dirty="0"/>
          </a:p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B31D28"/>
                </a:solidFill>
                <a:highlight>
                  <a:srgbClr val="E5E5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 calculateDuration()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312590" y="2618036"/>
            <a:ext cx="3573735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ParkingLot Class: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312590" y="2817391"/>
            <a:ext cx="3116535" cy="1082278"/>
          </a:xfrm>
          <a:prstGeom prst="roundRect">
            <a:avLst>
              <a:gd name="adj" fmla="val 1320"/>
            </a:avLst>
          </a:prstGeom>
          <a:solidFill>
            <a:srgbClr val="E5E5E5"/>
          </a:solidFill>
          <a:ln/>
        </p:spPr>
      </p:sp>
      <p:sp>
        <p:nvSpPr>
          <p:cNvPr id="18" name="Shape 16"/>
          <p:cNvSpPr/>
          <p:nvPr/>
        </p:nvSpPr>
        <p:spPr>
          <a:xfrm>
            <a:off x="1307827" y="2817391"/>
            <a:ext cx="3126060" cy="1082278"/>
          </a:xfrm>
          <a:prstGeom prst="roundRect">
            <a:avLst>
              <a:gd name="adj" fmla="val 1320"/>
            </a:avLst>
          </a:prstGeom>
          <a:solidFill>
            <a:srgbClr val="E5E5E5"/>
          </a:solidFill>
          <a:ln/>
        </p:spPr>
      </p:sp>
      <p:sp>
        <p:nvSpPr>
          <p:cNvPr id="19" name="Text 17"/>
          <p:cNvSpPr/>
          <p:nvPr/>
        </p:nvSpPr>
        <p:spPr>
          <a:xfrm>
            <a:off x="1426890" y="2912641"/>
            <a:ext cx="2887935" cy="891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B31D28"/>
                </a:solidFill>
                <a:highlight>
                  <a:srgbClr val="E5E5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totalSlots: int</a:t>
            </a:r>
            <a:endParaRPr lang="en-US" sz="750" dirty="0"/>
          </a:p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B31D28"/>
                </a:solidFill>
                <a:highlight>
                  <a:srgbClr val="E5E5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availableSlots: int</a:t>
            </a:r>
            <a:endParaRPr lang="en-US" sz="750" dirty="0"/>
          </a:p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B31D28"/>
                </a:solidFill>
                <a:highlight>
                  <a:srgbClr val="E5E5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vehicles: ArrayList&lt;Vehicle&gt;</a:t>
            </a:r>
            <a:endParaRPr lang="en-US" sz="750" dirty="0"/>
          </a:p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B31D28"/>
                </a:solidFill>
                <a:highlight>
                  <a:srgbClr val="E5E5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 parkVehicle()</a:t>
            </a:r>
            <a:endParaRPr lang="en-US" sz="750" dirty="0"/>
          </a:p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B31D28"/>
                </a:solidFill>
                <a:highlight>
                  <a:srgbClr val="E5E5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 removeVehicle()</a:t>
            </a:r>
            <a:endParaRPr lang="en-US" sz="750" dirty="0"/>
          </a:p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B31D28"/>
                </a:solidFill>
                <a:highlight>
                  <a:srgbClr val="E5E5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 searchVehicle()</a:t>
            </a:r>
            <a:endParaRPr lang="en-US" sz="750" dirty="0"/>
          </a:p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B31D28"/>
                </a:solidFill>
                <a:highlight>
                  <a:srgbClr val="E5E5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 getAvailableSlots()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312590" y="3971627"/>
            <a:ext cx="3573735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 Class: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312590" y="4170983"/>
            <a:ext cx="3116535" cy="572691"/>
          </a:xfrm>
          <a:prstGeom prst="roundRect">
            <a:avLst>
              <a:gd name="adj" fmla="val 2495"/>
            </a:avLst>
          </a:prstGeom>
          <a:solidFill>
            <a:srgbClr val="E5E5E5"/>
          </a:solidFill>
          <a:ln/>
        </p:spPr>
      </p:sp>
      <p:sp>
        <p:nvSpPr>
          <p:cNvPr id="22" name="Shape 20"/>
          <p:cNvSpPr/>
          <p:nvPr/>
        </p:nvSpPr>
        <p:spPr>
          <a:xfrm>
            <a:off x="1307827" y="4170983"/>
            <a:ext cx="3126060" cy="572691"/>
          </a:xfrm>
          <a:prstGeom prst="roundRect">
            <a:avLst>
              <a:gd name="adj" fmla="val 2495"/>
            </a:avLst>
          </a:prstGeom>
          <a:solidFill>
            <a:srgbClr val="E5E5E5"/>
          </a:solidFill>
          <a:ln/>
        </p:spPr>
      </p:sp>
      <p:sp>
        <p:nvSpPr>
          <p:cNvPr id="23" name="Text 21"/>
          <p:cNvSpPr/>
          <p:nvPr/>
        </p:nvSpPr>
        <p:spPr>
          <a:xfrm>
            <a:off x="1426890" y="4266233"/>
            <a:ext cx="2887935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1521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displayMenu()</a:t>
            </a:r>
            <a:endParaRPr lang="en-US" sz="750" dirty="0"/>
          </a:p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1521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handleUserInput()</a:t>
            </a:r>
            <a:endParaRPr lang="en-US" sz="750" dirty="0"/>
          </a:p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1521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main()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624388" y="1115020"/>
            <a:ext cx="3307035" cy="3700611"/>
          </a:xfrm>
          <a:prstGeom prst="roundRect">
            <a:avLst>
              <a:gd name="adj" fmla="val 432"/>
            </a:avLst>
          </a:prstGeom>
          <a:solidFill>
            <a:srgbClr val="F2F2F2"/>
          </a:solidFill>
          <a:ln/>
        </p:spPr>
      </p:sp>
      <p:sp>
        <p:nvSpPr>
          <p:cNvPr id="25" name="Text 23"/>
          <p:cNvSpPr/>
          <p:nvPr/>
        </p:nvSpPr>
        <p:spPr>
          <a:xfrm>
            <a:off x="5349180" y="1179016"/>
            <a:ext cx="185737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OOP Concepts Explained</a:t>
            </a:r>
            <a:endParaRPr lang="en-US" sz="90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5350" y="1399803"/>
            <a:ext cx="1540520" cy="60126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4872038" y="1509340"/>
            <a:ext cx="1264295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Encapsulation:</a:t>
            </a: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Data hiding with private variables and public methods</a:t>
            </a:r>
            <a:endParaRPr lang="en-US" sz="75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5579" y="1399803"/>
            <a:ext cx="1540594" cy="601266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6462266" y="1509340"/>
            <a:ext cx="1264369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Abstraction:</a:t>
            </a: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Hiding complex implementation details</a:t>
            </a:r>
            <a:endParaRPr lang="en-US" sz="750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05350" y="2065065"/>
            <a:ext cx="1540520" cy="473869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4872038" y="2174602"/>
            <a:ext cx="1264295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Inheritance:</a:t>
            </a: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Extending classes for code reuse</a:t>
            </a:r>
            <a:endParaRPr lang="en-US" sz="75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5579" y="2065065"/>
            <a:ext cx="1540594" cy="473869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462266" y="2174602"/>
            <a:ext cx="1264369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Polymorphism:</a:t>
            </a: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Method overriding and overloading</a:t>
            </a:r>
            <a:endParaRPr lang="en-US" sz="7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0EB3BB3-EFBE-4A4E-C7EB-03C327254044}"/>
              </a:ext>
            </a:extLst>
          </p:cNvPr>
          <p:cNvSpPr/>
          <p:nvPr/>
        </p:nvSpPr>
        <p:spPr>
          <a:xfrm>
            <a:off x="8031436" y="4815630"/>
            <a:ext cx="1046196" cy="2615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B15F30C4-CCFF-4A82-869C-4314ED31AAA5}"/>
              </a:ext>
            </a:extLst>
          </p:cNvPr>
          <p:cNvSpPr/>
          <p:nvPr/>
        </p:nvSpPr>
        <p:spPr>
          <a:xfrm>
            <a:off x="207264" y="0"/>
            <a:ext cx="2651760" cy="4663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PROJECT SCREENSHOT </a:t>
            </a:r>
            <a:endParaRPr lang="en-IN" sz="2000" dirty="0">
              <a:solidFill>
                <a:schemeClr val="tx1"/>
              </a:solidFill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79A40549-E3A9-ABF3-C973-9FE7BB47E1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319"/>
          <a:stretch>
            <a:fillRect/>
          </a:stretch>
        </p:blipFill>
        <p:spPr>
          <a:xfrm>
            <a:off x="4328159" y="525780"/>
            <a:ext cx="4732021" cy="456438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1D7B168-AB19-BEF6-F627-A976A33E80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3553"/>
          <a:stretch>
            <a:fillRect/>
          </a:stretch>
        </p:blipFill>
        <p:spPr>
          <a:xfrm>
            <a:off x="0" y="525780"/>
            <a:ext cx="4328159" cy="45049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26531" y="199653"/>
            <a:ext cx="432197" cy="110430"/>
          </a:xfrm>
          <a:prstGeom prst="roundRect">
            <a:avLst>
              <a:gd name="adj" fmla="val 7703"/>
            </a:avLst>
          </a:prstGeom>
          <a:solidFill>
            <a:srgbClr val="D7DFF4"/>
          </a:solidFill>
          <a:ln/>
        </p:spPr>
      </p:sp>
      <p:sp>
        <p:nvSpPr>
          <p:cNvPr id="3" name="Text 1"/>
          <p:cNvSpPr/>
          <p:nvPr/>
        </p:nvSpPr>
        <p:spPr>
          <a:xfrm>
            <a:off x="2169021" y="220861"/>
            <a:ext cx="804416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CONCLUSION</a:t>
            </a:r>
            <a:endParaRPr lang="en-US" sz="400" dirty="0"/>
          </a:p>
        </p:txBody>
      </p:sp>
      <p:sp>
        <p:nvSpPr>
          <p:cNvPr id="4" name="Shape 2"/>
          <p:cNvSpPr/>
          <p:nvPr/>
        </p:nvSpPr>
        <p:spPr>
          <a:xfrm>
            <a:off x="2594149" y="194890"/>
            <a:ext cx="491579" cy="119955"/>
          </a:xfrm>
          <a:prstGeom prst="roundRect">
            <a:avLst>
              <a:gd name="adj" fmla="val 7091"/>
            </a:avLst>
          </a:prstGeom>
          <a:noFill/>
          <a:ln w="4763">
            <a:solidFill>
              <a:srgbClr val="3257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41402" y="220861"/>
            <a:ext cx="854273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FUTURE SCOPE</a:t>
            </a:r>
            <a:endParaRPr lang="en-US" sz="400" dirty="0"/>
          </a:p>
        </p:txBody>
      </p:sp>
      <p:sp>
        <p:nvSpPr>
          <p:cNvPr id="6" name="Shape 4"/>
          <p:cNvSpPr/>
          <p:nvPr/>
        </p:nvSpPr>
        <p:spPr>
          <a:xfrm>
            <a:off x="3121149" y="194890"/>
            <a:ext cx="624557" cy="119955"/>
          </a:xfrm>
          <a:prstGeom prst="roundRect">
            <a:avLst>
              <a:gd name="adj" fmla="val 7091"/>
            </a:avLst>
          </a:prstGeom>
          <a:noFill/>
          <a:ln w="4763">
            <a:solidFill>
              <a:srgbClr val="3257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68402" y="220861"/>
            <a:ext cx="987251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SUMMARY</a:t>
            </a:r>
            <a:endParaRPr lang="en-US" sz="400" dirty="0"/>
          </a:p>
        </p:txBody>
      </p:sp>
      <p:sp>
        <p:nvSpPr>
          <p:cNvPr id="8" name="Text 6"/>
          <p:cNvSpPr/>
          <p:nvPr/>
        </p:nvSpPr>
        <p:spPr>
          <a:xfrm>
            <a:off x="2126531" y="328985"/>
            <a:ext cx="4890939" cy="1329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Conclusion &amp;</a:t>
            </a:r>
            <a:endParaRPr lang="en-US" sz="41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4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Future Scope</a:t>
            </a:r>
            <a:endParaRPr lang="en-US" sz="4150" dirty="0"/>
          </a:p>
        </p:txBody>
      </p:sp>
      <p:sp>
        <p:nvSpPr>
          <p:cNvPr id="9" name="Text 7"/>
          <p:cNvSpPr/>
          <p:nvPr/>
        </p:nvSpPr>
        <p:spPr>
          <a:xfrm>
            <a:off x="2126531" y="1711151"/>
            <a:ext cx="4890939" cy="294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polished summary of today’s results and the next wave of improvements.</a:t>
            </a:r>
            <a:endParaRPr lang="en-US" sz="5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final section highlights the parking system’s current strengths, then previews the features that can make it even smarter, faster, and more connected in the future.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2075483" y="2045940"/>
            <a:ext cx="2461096" cy="3009379"/>
          </a:xfrm>
          <a:prstGeom prst="roundRect">
            <a:avLst>
              <a:gd name="adj" fmla="val 432"/>
            </a:avLst>
          </a:prstGeom>
          <a:solidFill>
            <a:srgbClr val="AFCBF8"/>
          </a:solidFill>
          <a:ln/>
        </p:spPr>
      </p:sp>
      <p:sp>
        <p:nvSpPr>
          <p:cNvPr id="11" name="Text 9"/>
          <p:cNvSpPr/>
          <p:nvPr/>
        </p:nvSpPr>
        <p:spPr>
          <a:xfrm>
            <a:off x="2545779" y="2081361"/>
            <a:ext cx="1520428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Achievements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46325" y="2254076"/>
            <a:ext cx="1141958" cy="653728"/>
          </a:xfrm>
          <a:prstGeom prst="roundRect">
            <a:avLst>
              <a:gd name="adj" fmla="val 1626"/>
            </a:avLst>
          </a:prstGeom>
          <a:solidFill>
            <a:srgbClr val="E9ECF2"/>
          </a:solidFill>
          <a:ln/>
        </p:spPr>
      </p:sp>
      <p:sp>
        <p:nvSpPr>
          <p:cNvPr id="13" name="Text 11"/>
          <p:cNvSpPr/>
          <p:nvPr/>
        </p:nvSpPr>
        <p:spPr>
          <a:xfrm>
            <a:off x="2217167" y="2324919"/>
            <a:ext cx="1000274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Streamlined parking operations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2217167" y="2581796"/>
            <a:ext cx="1000274" cy="255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Organized the core workflow for parking, searching, status checks, and vehicle removal.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3323704" y="2254076"/>
            <a:ext cx="1142033" cy="653728"/>
          </a:xfrm>
          <a:prstGeom prst="roundRect">
            <a:avLst>
              <a:gd name="adj" fmla="val 1626"/>
            </a:avLst>
          </a:prstGeom>
          <a:solidFill>
            <a:srgbClr val="E9ECF2"/>
          </a:solidFill>
          <a:ln/>
        </p:spPr>
      </p:sp>
      <p:sp>
        <p:nvSpPr>
          <p:cNvPr id="16" name="Text 14"/>
          <p:cNvSpPr/>
          <p:nvPr/>
        </p:nvSpPr>
        <p:spPr>
          <a:xfrm>
            <a:off x="3394546" y="2324919"/>
            <a:ext cx="95369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Reduced manual effort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394546" y="2471068"/>
            <a:ext cx="1000348" cy="255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repetitive steps to save time and minimize human error.</a:t>
            </a:r>
            <a:endParaRPr lang="en-US" sz="550" dirty="0"/>
          </a:p>
        </p:txBody>
      </p:sp>
      <p:sp>
        <p:nvSpPr>
          <p:cNvPr id="18" name="Shape 16"/>
          <p:cNvSpPr/>
          <p:nvPr/>
        </p:nvSpPr>
        <p:spPr>
          <a:xfrm>
            <a:off x="2146325" y="2943225"/>
            <a:ext cx="1141958" cy="653728"/>
          </a:xfrm>
          <a:prstGeom prst="roundRect">
            <a:avLst>
              <a:gd name="adj" fmla="val 1626"/>
            </a:avLst>
          </a:prstGeom>
          <a:solidFill>
            <a:srgbClr val="E9ECF2"/>
          </a:solidFill>
          <a:ln/>
        </p:spPr>
      </p:sp>
      <p:sp>
        <p:nvSpPr>
          <p:cNvPr id="19" name="Text 17"/>
          <p:cNvSpPr/>
          <p:nvPr/>
        </p:nvSpPr>
        <p:spPr>
          <a:xfrm>
            <a:off x="2217167" y="3014067"/>
            <a:ext cx="95212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Improved slot tracking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217167" y="3160216"/>
            <a:ext cx="1000274" cy="255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Made space availability easier to monitor and manage in real time.</a:t>
            </a:r>
            <a:endParaRPr lang="en-US" sz="550" dirty="0"/>
          </a:p>
        </p:txBody>
      </p:sp>
      <p:sp>
        <p:nvSpPr>
          <p:cNvPr id="21" name="Shape 19"/>
          <p:cNvSpPr/>
          <p:nvPr/>
        </p:nvSpPr>
        <p:spPr>
          <a:xfrm>
            <a:off x="3323704" y="2943225"/>
            <a:ext cx="1142033" cy="653728"/>
          </a:xfrm>
          <a:prstGeom prst="roundRect">
            <a:avLst>
              <a:gd name="adj" fmla="val 1626"/>
            </a:avLst>
          </a:prstGeom>
          <a:solidFill>
            <a:srgbClr val="E9ECF2"/>
          </a:solidFill>
          <a:ln/>
        </p:spPr>
      </p:sp>
      <p:sp>
        <p:nvSpPr>
          <p:cNvPr id="22" name="Text 20"/>
          <p:cNvSpPr/>
          <p:nvPr/>
        </p:nvSpPr>
        <p:spPr>
          <a:xfrm>
            <a:off x="3394546" y="3014067"/>
            <a:ext cx="1000348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Applied Java OOP concepts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3394546" y="3270945"/>
            <a:ext cx="1000348" cy="255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Used an object-oriented structure that supports clean code and maintainability.</a:t>
            </a:r>
            <a:endParaRPr lang="en-US" sz="550" dirty="0"/>
          </a:p>
        </p:txBody>
      </p:sp>
      <p:sp>
        <p:nvSpPr>
          <p:cNvPr id="24" name="Shape 22"/>
          <p:cNvSpPr/>
          <p:nvPr/>
        </p:nvSpPr>
        <p:spPr>
          <a:xfrm>
            <a:off x="2146325" y="3632374"/>
            <a:ext cx="1141958" cy="653728"/>
          </a:xfrm>
          <a:prstGeom prst="roundRect">
            <a:avLst>
              <a:gd name="adj" fmla="val 1626"/>
            </a:avLst>
          </a:prstGeom>
          <a:solidFill>
            <a:srgbClr val="E9ECF2"/>
          </a:solidFill>
          <a:ln/>
        </p:spPr>
      </p:sp>
      <p:sp>
        <p:nvSpPr>
          <p:cNvPr id="25" name="Text 23"/>
          <p:cNvSpPr/>
          <p:nvPr/>
        </p:nvSpPr>
        <p:spPr>
          <a:xfrm>
            <a:off x="2217167" y="3703216"/>
            <a:ext cx="1000274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Created a user-friendly interface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2217167" y="3960093"/>
            <a:ext cx="1000274" cy="255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Designed simple screens that make common operations quick and intuitive.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3323704" y="3632374"/>
            <a:ext cx="1142033" cy="653728"/>
          </a:xfrm>
          <a:prstGeom prst="roundRect">
            <a:avLst>
              <a:gd name="adj" fmla="val 1626"/>
            </a:avLst>
          </a:prstGeom>
          <a:solidFill>
            <a:srgbClr val="E9ECF2"/>
          </a:solidFill>
          <a:ln/>
        </p:spPr>
      </p:sp>
      <p:sp>
        <p:nvSpPr>
          <p:cNvPr id="28" name="Text 26"/>
          <p:cNvSpPr/>
          <p:nvPr/>
        </p:nvSpPr>
        <p:spPr>
          <a:xfrm>
            <a:off x="3394546" y="3703216"/>
            <a:ext cx="1000348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Built a scalable foundation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3394546" y="3960093"/>
            <a:ext cx="1000348" cy="255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Prepared the project for future features, integrations, and growth.</a:t>
            </a:r>
            <a:endParaRPr lang="en-US" sz="550" dirty="0"/>
          </a:p>
        </p:txBody>
      </p:sp>
      <p:sp>
        <p:nvSpPr>
          <p:cNvPr id="30" name="Shape 28"/>
          <p:cNvSpPr/>
          <p:nvPr/>
        </p:nvSpPr>
        <p:spPr>
          <a:xfrm>
            <a:off x="4612184" y="2045940"/>
            <a:ext cx="2461096" cy="3009379"/>
          </a:xfrm>
          <a:prstGeom prst="roundRect">
            <a:avLst>
              <a:gd name="adj" fmla="val 432"/>
            </a:avLst>
          </a:prstGeom>
          <a:solidFill>
            <a:srgbClr val="F2FBF7"/>
          </a:solidFill>
          <a:ln/>
        </p:spPr>
      </p:sp>
      <p:sp>
        <p:nvSpPr>
          <p:cNvPr id="31" name="Text 29"/>
          <p:cNvSpPr/>
          <p:nvPr/>
        </p:nvSpPr>
        <p:spPr>
          <a:xfrm>
            <a:off x="5055989" y="2081361"/>
            <a:ext cx="1573411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Future Enhancements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83026" y="2254076"/>
            <a:ext cx="283518" cy="457944"/>
          </a:xfrm>
          <a:prstGeom prst="roundRect">
            <a:avLst>
              <a:gd name="adj" fmla="val 360022"/>
            </a:avLst>
          </a:prstGeom>
          <a:solidFill>
            <a:srgbClr val="E9ECF2"/>
          </a:solidFill>
          <a:ln/>
        </p:spPr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1653" y="2429917"/>
            <a:ext cx="106263" cy="106263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5001964" y="2324919"/>
            <a:ext cx="96180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Online booking system</a:t>
            </a:r>
            <a:endParaRPr lang="en-US" sz="650" dirty="0"/>
          </a:p>
        </p:txBody>
      </p:sp>
      <p:sp>
        <p:nvSpPr>
          <p:cNvPr id="35" name="Text 32"/>
          <p:cNvSpPr/>
          <p:nvPr/>
        </p:nvSpPr>
        <p:spPr>
          <a:xfrm>
            <a:off x="5001964" y="2471068"/>
            <a:ext cx="2000473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 advance reservations for better convenience and planning.</a:t>
            </a:r>
            <a:endParaRPr lang="en-US" sz="550" dirty="0"/>
          </a:p>
        </p:txBody>
      </p:sp>
      <p:sp>
        <p:nvSpPr>
          <p:cNvPr id="36" name="Shape 33"/>
          <p:cNvSpPr/>
          <p:nvPr/>
        </p:nvSpPr>
        <p:spPr>
          <a:xfrm>
            <a:off x="4683026" y="2747442"/>
            <a:ext cx="283518" cy="425276"/>
          </a:xfrm>
          <a:prstGeom prst="roundRect">
            <a:avLst>
              <a:gd name="adj" fmla="val 360022"/>
            </a:avLst>
          </a:prstGeom>
          <a:solidFill>
            <a:srgbClr val="E9ECF2"/>
          </a:solidFill>
          <a:ln/>
        </p:spPr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1653" y="2906911"/>
            <a:ext cx="106263" cy="106263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5001964" y="2818284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QR code entry</a:t>
            </a:r>
            <a:endParaRPr lang="en-US" sz="650" dirty="0"/>
          </a:p>
        </p:txBody>
      </p:sp>
      <p:sp>
        <p:nvSpPr>
          <p:cNvPr id="39" name="Text 35"/>
          <p:cNvSpPr/>
          <p:nvPr/>
        </p:nvSpPr>
        <p:spPr>
          <a:xfrm>
            <a:off x="5001964" y="2964433"/>
            <a:ext cx="200047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Speed up access with contactless verification at entry and exit.</a:t>
            </a:r>
            <a:endParaRPr lang="en-US" sz="550" dirty="0"/>
          </a:p>
        </p:txBody>
      </p:sp>
      <p:sp>
        <p:nvSpPr>
          <p:cNvPr id="40" name="Shape 36"/>
          <p:cNvSpPr/>
          <p:nvPr/>
        </p:nvSpPr>
        <p:spPr>
          <a:xfrm>
            <a:off x="4683026" y="3208139"/>
            <a:ext cx="283518" cy="425276"/>
          </a:xfrm>
          <a:prstGeom prst="roundRect">
            <a:avLst>
              <a:gd name="adj" fmla="val 360022"/>
            </a:avLst>
          </a:prstGeom>
          <a:solidFill>
            <a:srgbClr val="E9ECF2"/>
          </a:solidFill>
          <a:ln/>
        </p:spPr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1653" y="3367608"/>
            <a:ext cx="106263" cy="106263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5001964" y="3278981"/>
            <a:ext cx="123720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Payment gateway integration</a:t>
            </a:r>
            <a:endParaRPr lang="en-US" sz="650" dirty="0"/>
          </a:p>
        </p:txBody>
      </p:sp>
      <p:sp>
        <p:nvSpPr>
          <p:cNvPr id="43" name="Text 38"/>
          <p:cNvSpPr/>
          <p:nvPr/>
        </p:nvSpPr>
        <p:spPr>
          <a:xfrm>
            <a:off x="5001964" y="3425130"/>
            <a:ext cx="200047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 secure digital payments and faster checkout.</a:t>
            </a:r>
            <a:endParaRPr lang="en-US" sz="550" dirty="0"/>
          </a:p>
        </p:txBody>
      </p:sp>
      <p:sp>
        <p:nvSpPr>
          <p:cNvPr id="44" name="Shape 39"/>
          <p:cNvSpPr/>
          <p:nvPr/>
        </p:nvSpPr>
        <p:spPr>
          <a:xfrm>
            <a:off x="4683026" y="3668837"/>
            <a:ext cx="283518" cy="425276"/>
          </a:xfrm>
          <a:prstGeom prst="roundRect">
            <a:avLst>
              <a:gd name="adj" fmla="val 360022"/>
            </a:avLst>
          </a:prstGeom>
          <a:solidFill>
            <a:srgbClr val="E9ECF2"/>
          </a:solidFill>
          <a:ln/>
        </p:spPr>
      </p:sp>
      <p:pic>
        <p:nvPicPr>
          <p:cNvPr id="4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71653" y="3828306"/>
            <a:ext cx="106263" cy="106263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5001964" y="3739679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Mobile application</a:t>
            </a:r>
            <a:endParaRPr lang="en-US" sz="650" dirty="0"/>
          </a:p>
        </p:txBody>
      </p:sp>
      <p:sp>
        <p:nvSpPr>
          <p:cNvPr id="47" name="Text 41"/>
          <p:cNvSpPr/>
          <p:nvPr/>
        </p:nvSpPr>
        <p:spPr>
          <a:xfrm>
            <a:off x="5001964" y="3885828"/>
            <a:ext cx="200047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Extend system access to phones for anytime, anywhere use.</a:t>
            </a:r>
            <a:endParaRPr lang="en-US" sz="550" dirty="0"/>
          </a:p>
        </p:txBody>
      </p:sp>
      <p:sp>
        <p:nvSpPr>
          <p:cNvPr id="48" name="Shape 42"/>
          <p:cNvSpPr/>
          <p:nvPr/>
        </p:nvSpPr>
        <p:spPr>
          <a:xfrm>
            <a:off x="4683026" y="4129534"/>
            <a:ext cx="283518" cy="425276"/>
          </a:xfrm>
          <a:prstGeom prst="roundRect">
            <a:avLst>
              <a:gd name="adj" fmla="val 360022"/>
            </a:avLst>
          </a:prstGeom>
          <a:solidFill>
            <a:srgbClr val="E9ECF2"/>
          </a:solidFill>
          <a:ln/>
        </p:spPr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1653" y="4289003"/>
            <a:ext cx="106263" cy="106263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5001964" y="4200376"/>
            <a:ext cx="90219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Real-time monitoring</a:t>
            </a:r>
            <a:endParaRPr lang="en-US" sz="650" dirty="0"/>
          </a:p>
        </p:txBody>
      </p:sp>
      <p:sp>
        <p:nvSpPr>
          <p:cNvPr id="51" name="Text 44"/>
          <p:cNvSpPr/>
          <p:nvPr/>
        </p:nvSpPr>
        <p:spPr>
          <a:xfrm>
            <a:off x="5001964" y="4346525"/>
            <a:ext cx="200047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 live visibility into parking availability and status.</a:t>
            </a:r>
            <a:endParaRPr lang="en-US" sz="550" dirty="0"/>
          </a:p>
        </p:txBody>
      </p:sp>
      <p:sp>
        <p:nvSpPr>
          <p:cNvPr id="52" name="Shape 45"/>
          <p:cNvSpPr/>
          <p:nvPr/>
        </p:nvSpPr>
        <p:spPr>
          <a:xfrm>
            <a:off x="4683026" y="4590231"/>
            <a:ext cx="283518" cy="425276"/>
          </a:xfrm>
          <a:prstGeom prst="roundRect">
            <a:avLst>
              <a:gd name="adj" fmla="val 360022"/>
            </a:avLst>
          </a:prstGeom>
          <a:solidFill>
            <a:srgbClr val="E9ECF2"/>
          </a:solidFill>
          <a:ln/>
        </p:spPr>
      </p:sp>
      <p:pic>
        <p:nvPicPr>
          <p:cNvPr id="5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1653" y="4749701"/>
            <a:ext cx="106263" cy="106263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5001964" y="4661074"/>
            <a:ext cx="114009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Analytics and notifications</a:t>
            </a:r>
            <a:endParaRPr lang="en-US" sz="650" dirty="0"/>
          </a:p>
        </p:txBody>
      </p:sp>
      <p:sp>
        <p:nvSpPr>
          <p:cNvPr id="55" name="Text 47"/>
          <p:cNvSpPr/>
          <p:nvPr/>
        </p:nvSpPr>
        <p:spPr>
          <a:xfrm>
            <a:off x="5001964" y="4807223"/>
            <a:ext cx="200047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reports, insights, and alerts to improve decision-making.</a:t>
            </a:r>
            <a:endParaRPr lang="en-US" sz="550" dirty="0"/>
          </a:p>
        </p:txBody>
      </p:sp>
      <p:sp>
        <p:nvSpPr>
          <p:cNvPr id="56" name="Text 48"/>
          <p:cNvSpPr/>
          <p:nvPr/>
        </p:nvSpPr>
        <p:spPr>
          <a:xfrm>
            <a:off x="2648173" y="5108451"/>
            <a:ext cx="3847579" cy="305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endParaRPr lang="en-US" sz="19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E3AF110-EDA3-B56A-D53B-9035392E07B3}"/>
              </a:ext>
            </a:extLst>
          </p:cNvPr>
          <p:cNvSpPr/>
          <p:nvPr/>
        </p:nvSpPr>
        <p:spPr>
          <a:xfrm>
            <a:off x="7765026" y="4645742"/>
            <a:ext cx="1312606" cy="4313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010A8B-E250-F8A3-5448-3135316AD628}"/>
              </a:ext>
            </a:extLst>
          </p:cNvPr>
          <p:cNvSpPr/>
          <p:nvPr/>
        </p:nvSpPr>
        <p:spPr>
          <a:xfrm>
            <a:off x="7765026" y="4645742"/>
            <a:ext cx="1312606" cy="4313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3BF3F6-3666-474A-65BC-B57E6D8D8602}"/>
              </a:ext>
            </a:extLst>
          </p:cNvPr>
          <p:cNvSpPr/>
          <p:nvPr/>
        </p:nvSpPr>
        <p:spPr>
          <a:xfrm>
            <a:off x="730045" y="698705"/>
            <a:ext cx="7683910" cy="37460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IN" sz="6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158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758</Words>
  <Application>Microsoft Office PowerPoint</Application>
  <PresentationFormat>On-screen Show (16:9)</PresentationFormat>
  <Paragraphs>168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Roboto</vt:lpstr>
      <vt:lpstr>Roboto Slab</vt:lpstr>
      <vt:lpstr>Consolas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Harsh Vardhan</cp:lastModifiedBy>
  <cp:revision>4</cp:revision>
  <dcterms:created xsi:type="dcterms:W3CDTF">2026-06-09T18:23:31Z</dcterms:created>
  <dcterms:modified xsi:type="dcterms:W3CDTF">2026-06-10T12:31:32Z</dcterms:modified>
</cp:coreProperties>
</file>